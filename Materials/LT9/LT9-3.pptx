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30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35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8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9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44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5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46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7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8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50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5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53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5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55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56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57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58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59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60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61.xml"/><Relationship Id="rId8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036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Лекция 9.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5258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Данная лекция посвящена консолидации продвинутых методов в свёрточных нейронных сетях (CNN) с акцентом на теоретические аспекты оптимизации, регуляризации и интерпретации моделей.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896439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предыдущих лекциях были рассмотрены базовые принципы глубокого обучения, архитектуры CNN и их реализация с использованием современных фреймворков. Цель настоящей лекции – углублённое изучение методов, направленных на повышение эффективности обучения, снижение риска переобучения и обеспечение интерпретируемости работы моделей.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634591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6353532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6329005"/>
            <a:ext cx="24055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TS Compact Bold" pitchFamily="34" charset="0"/>
                <a:ea typeface="MTS Compact Bold" pitchFamily="34" charset="-122"/>
                <a:cs typeface="MTS Compact Bold" pitchFamily="34" charset="-120"/>
              </a:rPr>
              <a:t>by Иван Копылов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885"/>
            <a:ext cx="114076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Оптимизация в свёрточных нейронных сетях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1825"/>
            <a:ext cx="126937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Оптимизация параметров моделей является краеугольным камнем обучения нейронных сетей. В условиях высокой размерности параметрического пространства и нелинейности функций потерь традиционные методы оптимизации зачастую оказываются неэффективными.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6568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800118"/>
            <a:ext cx="30956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Проблемы оптимизации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90536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Высокая размерность параметрического пространства и нелинейность функций потерь делают традиционные методы оптимизации неэффективными для глубоких нейронных сетей.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56568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800118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Специализированные алгоритмы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644866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Разработаны специализированные алгоритмы, учитывающие особенности глубинных архитектур, позволяющие ускорить сходимость и повысить стабильность обучения.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56568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Цель оптимизации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290536"/>
            <a:ext cx="3611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цель - минимизация функции потерь, зависящей от параметров модели, для достижения высокой точности предсказаний.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917" y="527209"/>
            <a:ext cx="6261497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Основы градиентного спуска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70917" y="1413867"/>
            <a:ext cx="7802166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основе большинства алгоритмов оптимизации лежит метод градиентного спуска, целью которого является минимизация функции потерь (ℒ(θ)), зависящей от параметров модели (θ).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17" y="2549604"/>
            <a:ext cx="958572" cy="1718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17025" y="2741295"/>
            <a:ext cx="3629739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Классический градиентный спуск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917025" y="3155871"/>
            <a:ext cx="655605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Описывается итерационной схемой: θt+1 = θt - η∇θℒ(θt), где θt – вектор параметров на итерации t, η – скорость обучения, ∇θℒ(θt) – градиент функции потерь по параметрам.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7" y="4267676"/>
            <a:ext cx="958572" cy="17180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17025" y="4459367"/>
            <a:ext cx="2396371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Применение в CNN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917025" y="4873943"/>
            <a:ext cx="655605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обучении свёрточных нейронных сетей данный метод применяется для корректировки весов свёрточных фильтров, а также параметров полносвязанных слоёв.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7" y="5985748"/>
            <a:ext cx="958572" cy="17180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17025" y="6177439"/>
            <a:ext cx="3256597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Вычислительные ограничения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917025" y="6592014"/>
            <a:ext cx="655605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Вычисление градиента по всему обучающему набору данных зачастую является вычислительно затратным, что приводит к появлению стохастического градиентного спуска (SGD).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837"/>
            <a:ext cx="106649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Стохастический градиентный спуск (SGD)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8777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Стохастический градиентный спуск представляет собой приближение классического метода, при котором градиент вычисляется на основе случайного мини-батча данных.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797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6222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657600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Правило обновления параметров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502348"/>
            <a:ext cx="33051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η(1/m)∑i=1m∇θℒi(θt), где m – размер мини-батча, а ℒi – функция потерь для i-го примера.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5797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6222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657600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мини-батчей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502348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Использование мини-батчей позволяет уменьшить вычислительную нагрузку и ускорить процесс обучения за счёт более частых обновлений параметров.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5797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6222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6576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Проблемы SGD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4148018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SGD может испытывать трудности при обучении глубоких сетей, поскольку градиенты могут быть зашумлены, что затрудняет сходимость.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0154"/>
            <a:ext cx="7281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момента (Momentum)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9094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Идея метода момента заключается в накоплении предыдущих градиентов для сглаживания обновлений параметров.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97148"/>
            <a:ext cx="170021" cy="1352312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2897148"/>
            <a:ext cx="46989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Формулы обновления с моментумом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387566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vt = γvt-1 + η∇θℒ(θt)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03973" y="3886557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vt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1133951" y="447627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4134" y="4476274"/>
            <a:ext cx="29207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Коэффициент момента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4134" y="4966692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γ – коэффициент момента, обычно выбираемый в интервале [0.9, 0.99].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1474232" y="555640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415" y="55564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84415" y="6046827"/>
            <a:ext cx="1150310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Механизм момента позволяет быстрее преодолевать плато функции потерь и обеспечивает более стабильное обновление параметров, что особенно важно в глубоких архитектурах с большим количеством слоёв.</a:t>
            </a:r>
            <a:endParaRPr lang="en-US" sz="17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200" y="652939"/>
            <a:ext cx="7315319" cy="1224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Адаптивные методы оптимизации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2200" y="2171462"/>
            <a:ext cx="731531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Помимо модификаций классического SGD, в последние годы получили широкое распространение адаптивные методы оптимизации, которые автоматически подстраивают скорость обучения для каждого параметра.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332321"/>
            <a:ext cx="489823" cy="4898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72200" y="4018002"/>
            <a:ext cx="2275165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AdaGrad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172200" y="4441627"/>
            <a:ext cx="2275165" cy="282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Адаптирует скорость обучения каждого параметра в зависимости от его исторической величины градиента. Уменьшает скорость обучения для параметров с большими градиентами.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277" y="3332321"/>
            <a:ext cx="489823" cy="4898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92277" y="4018002"/>
            <a:ext cx="2275165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RMSProp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692277" y="4441627"/>
            <a:ext cx="2275165" cy="313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Использует экспоненциальное скользящее среднее квадратов градиентов, что позволяет динамически корректировать шаг обучения и избежать чрезмерного уменьшения скорости.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2354" y="3332321"/>
            <a:ext cx="489823" cy="4898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212354" y="4018002"/>
            <a:ext cx="2275165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Adam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11212354" y="4441627"/>
            <a:ext cx="2275165" cy="313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Сочетает идеи момента и RMSProp, вычисляя как скользящее среднее градиентов, так и их квадратов. Обеспечивает высокую скорость сходимости и устойчивость к зашумлённым градиентам.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8453"/>
            <a:ext cx="9528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AdaGrad (Adaptive Gradient Algorithm)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7393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AdaGrad адаптирует скорость обучения каждого параметра в зависимости от его исторической величины градиента.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754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61795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653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обновления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143732"/>
            <a:ext cx="33051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θt+1,i = θt,i - η/√(Gt,ii + ε)∇θiℒ(θt)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5754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61795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653314"/>
            <a:ext cx="32077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Диагональная матрица 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143732"/>
            <a:ext cx="33051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Gt,ii = ∑τ=1t(∇θiℒ(θτ))2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5754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61795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653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4143732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Такой подход позволяет уменьшить скорость обучения для параметров, для которых градиент часто имеет большую амплитуду, что способствует более стабильной сходимости.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32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RMSProp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5628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RMSProp был предложен для устранения чрезмерного уменьшения шага обучения, наблюдаемого в AdaGrad.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01145"/>
            <a:ext cx="367188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Экспоненциальное скользящее среднее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245894"/>
            <a:ext cx="36718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E[g2]t = βE[g2]t-1 + (1-β)(∇θℒ(θt))2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05" y="2783681"/>
            <a:ext cx="4442698" cy="44426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39132" y="4525447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9702165" y="3291840"/>
            <a:ext cx="31570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Обновление параметров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702165" y="3782258"/>
            <a:ext cx="3785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η/√(E[g2]t + ε)∇θℒ(θt)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305" y="2783681"/>
            <a:ext cx="4442698" cy="44426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68377" y="359985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9702165" y="5501878"/>
            <a:ext cx="3090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Коэффициент затухания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702165" y="5992297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β – коэффициент затухания, обычно принимаемый равным 0.9.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5" y="2783681"/>
            <a:ext cx="4442698" cy="44426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5343" y="6253043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603052"/>
            <a:ext cx="8639651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Adam (Adaptive Moment Estimation)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7596" y="1617345"/>
            <a:ext cx="12719923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Adam сочетает в себе идеи момента и RMSProp, вычисляя как скользящее среднее градиентов, так и их квадратов.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112318" y="2214920"/>
            <a:ext cx="30480" cy="5414367"/>
          </a:xfrm>
          <a:prstGeom prst="roundRect">
            <a:avLst>
              <a:gd name="adj" fmla="val 302205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53401" y="2446377"/>
            <a:ext cx="657939" cy="30480"/>
          </a:xfrm>
          <a:prstGeom prst="roundRect">
            <a:avLst>
              <a:gd name="adj" fmla="val 302205"/>
            </a:avLst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6880860" y="2214920"/>
            <a:ext cx="493395" cy="493395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63073" y="2256056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3289578" y="2290286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Первый момент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7596" y="2764512"/>
            <a:ext cx="5263396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mt = β1mt-1 + (1 - β1)∇θℒ(θt)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43775" y="3762256"/>
            <a:ext cx="657939" cy="30480"/>
          </a:xfrm>
          <a:prstGeom prst="roundRect">
            <a:avLst>
              <a:gd name="adj" fmla="val 302205"/>
            </a:avLst>
          </a:pr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6880860" y="3530798"/>
            <a:ext cx="493395" cy="493395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3073" y="3571935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224123" y="3606165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Второй момент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224123" y="4080391"/>
            <a:ext cx="5263396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vt = β2vt-1 + (1 - β2)(∇θℒ(θt))2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53401" y="4896445"/>
            <a:ext cx="657939" cy="30480"/>
          </a:xfrm>
          <a:prstGeom prst="roundRect">
            <a:avLst>
              <a:gd name="adj" fmla="val 302205"/>
            </a:avLst>
          </a:pr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80860" y="4664988"/>
            <a:ext cx="493395" cy="493395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3073" y="4706124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3289578" y="4740354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Коррекция смещения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67596" y="5214580"/>
            <a:ext cx="5263396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m̂t = mt/(1 - β1t), v̂t = vt/(1 - β2t)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43775" y="6030754"/>
            <a:ext cx="657939" cy="30480"/>
          </a:xfrm>
          <a:prstGeom prst="roundRect">
            <a:avLst>
              <a:gd name="adj" fmla="val 302205"/>
            </a:avLst>
          </a:prstGeom>
          <a:solidFill>
            <a:srgbClr val="E5E5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880860" y="5799296"/>
            <a:ext cx="493395" cy="493395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3073" y="5840432"/>
            <a:ext cx="328970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8224123" y="5874663"/>
            <a:ext cx="3053596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Обновление параметров</a:t>
            </a:r>
            <a:endParaRPr lang="en-US" sz="2150" dirty="0"/>
          </a:p>
        </p:txBody>
      </p:sp>
      <p:sp>
        <p:nvSpPr>
          <p:cNvPr id="24" name="Text 22"/>
          <p:cNvSpPr/>
          <p:nvPr/>
        </p:nvSpPr>
        <p:spPr>
          <a:xfrm>
            <a:off x="8224123" y="6348889"/>
            <a:ext cx="5263396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η·m̂t/(√v̂t + ε)</a:t>
            </a:r>
            <a:endParaRPr lang="en-US" sz="17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8598"/>
            <a:ext cx="123198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сходимости и влияние гиперпараметров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7539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Сходимость методов оптимизации зависит от выбора гиперпараметров, таких как скорость обучения (η), коэффициенты затухания (β1, β2) и размер мини-батча (m).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32929"/>
            <a:ext cx="28580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Теоретический анализ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923348"/>
            <a:ext cx="361116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Теоретический анализ сходимости часто проводится на базе предположений о гладкости и выпуклости функции потерь, однако в случае глубоких нейронных сетей функция потерь является высоко недавесной и невыпуклой.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Эмпирические исследования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277678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Эмпирические исследования демонстрируют, что методы, основанные на адаптивных алгоритмах, позволяют находить приемлемые решения даже в условиях сложного ландшафта функции потерь.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Адаптивная коррекция шага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277678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использовании Adam значение m̂t представляет собой оценку первого момента, а v̂t – оценку второго момента, что позволяет корректировать шаг обучения для каждого параметра в отдельности.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278" y="735449"/>
            <a:ext cx="7409974" cy="626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Гладкость функции и сходимость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01278" y="1661993"/>
            <a:ext cx="7741444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анализе сходимости часто вводится понятие гладкости функции (ℒ). Функция называется (L)-гладкой, если для любых (θ1) и (θ2) выполнено: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01792" y="2753797"/>
            <a:ext cx="7440930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|∇ℒ(θ1) - ∇ℒ(θ2)| ≤ L|θ1 - θ2|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01278" y="2528411"/>
            <a:ext cx="22860" cy="771287"/>
          </a:xfrm>
          <a:prstGeom prst="rect">
            <a:avLst/>
          </a:prstGeom>
          <a:solidFill>
            <a:srgbClr val="FF002D"/>
          </a:solidFill>
          <a:ln/>
        </p:spPr>
      </p:sp>
      <p:sp>
        <p:nvSpPr>
          <p:cNvPr id="7" name="Shape 4"/>
          <p:cNvSpPr/>
          <p:nvPr/>
        </p:nvSpPr>
        <p:spPr>
          <a:xfrm>
            <a:off x="701278" y="3525083"/>
            <a:ext cx="450771" cy="450771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6407" y="3562648"/>
            <a:ext cx="300514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1352312" y="3593902"/>
            <a:ext cx="250459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Темп сходимости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52312" y="4027170"/>
            <a:ext cx="3094553" cy="160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таких предположениях можно доказать, что метод градиентного спуска сходится с темпом (O(1/t)) для выпуклых функций.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697254" y="3525083"/>
            <a:ext cx="450771" cy="450771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2382" y="3562648"/>
            <a:ext cx="300514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5348288" y="3593902"/>
            <a:ext cx="250459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Ограничения теории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348288" y="4027170"/>
            <a:ext cx="3094553" cy="192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глубоких сетей, обладающих множеством локальных минимумов и седловых точек, данная теория имеет ограниченное практическое применение.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01278" y="6350913"/>
            <a:ext cx="450771" cy="450771"/>
          </a:xfrm>
          <a:prstGeom prst="roundRect">
            <a:avLst>
              <a:gd name="adj" fmla="val 18670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6407" y="6388477"/>
            <a:ext cx="300514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4"/>
          <p:cNvSpPr/>
          <p:nvPr/>
        </p:nvSpPr>
        <p:spPr>
          <a:xfrm>
            <a:off x="1352312" y="6419731"/>
            <a:ext cx="293131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Роль адаптивных методов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352312" y="6852999"/>
            <a:ext cx="7090410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Адаптивные методы помогают обходить трудности, связанные с недостатками классического SGD, особенно в сложных ландшафтах функций потерь.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601" y="484108"/>
            <a:ext cx="11043166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оптимизационных алгоритмов в TensorFlow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4601" y="1383863"/>
            <a:ext cx="1287291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Рассмотрим пример реализации алгоритма Adam на языке Python с использованием библиотеки TensorFlow.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4601" y="1862376"/>
            <a:ext cx="12872918" cy="5883116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05909" y="1862376"/>
            <a:ext cx="12890302" cy="5883116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1407" y="1994059"/>
            <a:ext cx="12539305" cy="561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from tensorflow.keras.models import Sequential
from tensorflow.keras.layers import Conv2D, Flatten, Dense
from tensorflow.keras.optimizers import Adam
# Определение простой свёрточной модели
model = Sequential([
    Conv2D(32, (3, 3), activation='relu', padding='same', input_shape=(64, 64, 3)),
    Conv2D(64, (3, 3), activation='relu', padding='same'),
    Flatten(),
    Dense(128, activation='relu'),
    Dense(10, activation='softmax')
])
# Инициализация оптимизатора Adam с параметрами по умолчанию
optimizer = Adam(learning_rate=0.001, beta_1=0.9, beta_2=0.999, epsilon=1e-08)
# Компиляция модели с использованием кросс-энтропийной функции потерь
model.compile(optimizer=optimizer, loss='categorical_crossentropy', metrics=['accuracy'])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98" y="379452"/>
            <a:ext cx="8148518" cy="4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оптимизационных алгоритмов в PyTorch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2798" y="1086445"/>
            <a:ext cx="13004721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Аналогичный пример на PyTorch для реализации CNN с оптимизатором Adam: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2798" y="1462326"/>
            <a:ext cx="13004721" cy="6387703"/>
          </a:xfrm>
          <a:prstGeom prst="roundRect">
            <a:avLst>
              <a:gd name="adj" fmla="val 90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76012" y="1462326"/>
            <a:ext cx="13018294" cy="6387703"/>
          </a:xfrm>
          <a:prstGeom prst="roundRect">
            <a:avLst>
              <a:gd name="adj" fmla="val 324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13886" y="1565791"/>
            <a:ext cx="12742545" cy="618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torch.optim as optim
class SimpleCNN(nn.Module):
    def __init__(self):
        super(SimpleCNN, self).__init__()
        self.conv1 = nn.Conv2d(3, 32, kernel_size=3, padding=1)
        self.conv2 = nn.Conv2d(32, 64, kernel_size=3, padding=1)
        self.fc1 = nn.Linear(64 * 64 * 64, 128)
        self.fc2 = nn.Linear(128, 10)
        self.relu = nn.ReLU()
        self.pool = nn.MaxPool2d(2, 2)
    def forward(self, x):
        x = self.relu(self.conv1(x))
        x = self.pool(x)
        x = self.relu(self.conv2(x))
        x = self.pool(x)
        x = x.view(x.size(0), -1)
        x = self.relu(self.fc1(x))
        x = self.fc2(x)
        return x
model = SimpleCNN()
optimizer = optim.Adam(model.parameters(), lr=0.001, betas=(0.9, 0.999), eps=1e-08)
criterion = nn.CrossEntropyLoss()
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8395"/>
            <a:ext cx="117732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Регуляризация в свёрточных нейронных сетях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0803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Переобучение (overfitting) является одной из основных проблем при обучении глубоких нейронных сетей, особенно когда размер обучающей выборки относительно мал по сравнению с числом параметров модели.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8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Цель регуляризации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99717"/>
            <a:ext cx="38617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Регуляризация направлена на снижение риска переобучения путём ограничения сложности модели и стабилизации процесса обучения.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818573"/>
            <a:ext cx="29890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регуляризации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399717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данной части лекции будут подробно рассмотрены методы регуляризации, широко применяемые в CNN, а также их математическое обоснование.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818573"/>
            <a:ext cx="3022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Практическое значение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9717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Правильно подобранные методы регуляризации позволяют значительно улучшить обобщающую способность модели и её производительность на новых данных.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69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3587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 представляет собой случайное "выключение" нейронов на этапе обучения с целью уменьшения зависимости модели от конкретных признаков.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16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259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294697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Математическое описание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139446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(z) – выход нейрона, тогда применение dropout описывается операцией: z̃ = z · r, где r ~ Bernoulli(p), а p – вероятность сохранения нейрона.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216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259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294697"/>
            <a:ext cx="30494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Случайная деактивация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3785116"/>
            <a:ext cx="33051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Во время обучения случайный вектор (r) генерируется для каждого слоя, что приводит к случайной деактивации части нейронов.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216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259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294697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Аппроксимация ансамбля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4139446"/>
            <a:ext cx="330517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 данное преобразование можно рассматривать как аппроксимацию ансамбля различных моделей, объединённых в одну, что улучшает обобщающую способность сети.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4042"/>
            <a:ext cx="84967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L2-регуляризация (Weight Decay)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2982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L2-регуляризация заключается в добавлении к функции потерь штрафного члена, пропорционального квадрату нормы весов.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33938"/>
            <a:ext cx="1134070" cy="1360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022" y="3160752"/>
            <a:ext cx="4660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Модифицированная функция потерь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68022" y="3651171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ℒtotal = ℒdata + λ|θ|22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294823"/>
            <a:ext cx="1134070" cy="1360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68022" y="4521637"/>
            <a:ext cx="3731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Коэффициент регуляризации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268022" y="5012055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λ – коэффициент регуляризации, контролирующий величину штрафа.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655707"/>
            <a:ext cx="1134070" cy="16698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68022" y="5882521"/>
            <a:ext cx="2965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 регуляризации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268022" y="6372939"/>
            <a:ext cx="112194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модификация функции потерь способствует тому, что веса модели остаются небольшими по абсолютной величине, что снижает вероятность переобучения.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0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07012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(нормализация по мини-батчам) применяется для стабилизации распределения входов в каждый слой сети.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8796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2787968"/>
            <a:ext cx="3897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Нормализация входного батча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278386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x̂ = (x - μbatch)/√(σ2batch + ε)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3868103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3868103"/>
            <a:ext cx="3978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Масштабирование и смещение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4358521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 = γx̂ + β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494823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4948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Параметры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5438656"/>
            <a:ext cx="115031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μbatch и σ2batch – среднее и дисперсия по батчу, γ и β – обучаемые параметры масштабирования и смещения.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814513" y="6028373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4695" y="6028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24695" y="6518791"/>
            <a:ext cx="111628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позволяет ускорить процесс обучения за счёт повышения устойчивости градиентов и смягчения эффекта изменения распределения входов.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908" y="472083"/>
            <a:ext cx="6749058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регуляризации в Keras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0908" y="1266111"/>
            <a:ext cx="1288661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Ниже приведён пример использования Dropout и Batch Normalization в модели на Keras: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0908" y="1733907"/>
            <a:ext cx="12886611" cy="6025634"/>
          </a:xfrm>
          <a:prstGeom prst="roundRect">
            <a:avLst>
              <a:gd name="adj" fmla="val 119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592336" y="1733907"/>
            <a:ext cx="12903756" cy="6025634"/>
          </a:xfrm>
          <a:prstGeom prst="roundRect">
            <a:avLst>
              <a:gd name="adj" fmla="val 427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64024" y="1862614"/>
            <a:ext cx="12560379" cy="5768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from tensorflow.keras.models import Sequential
from tensorflow.keras.layers import Conv2D, BatchNormalization, Activation, MaxPooling2D, Flatten, Dense, Dropout
model = Sequential([
    Conv2D(32, (3, 3), padding='same', input_shape=(64, 64, 3)),
    BatchNormalization(),
    Activation('relu'),
    MaxPooling2D(pool_size=(2, 2)),
    Conv2D(64, (3, 3), padding='same'),
    BatchNormalization(),
    Activation('relu'),
    MaxPooling2D(pool_size=(2, 2)),
    Flatten(),
    Dense(128, activation='relu'),
    Dropout(0.5),
    Dense(10, activation='softmax')
])
model.compile(optimizer='adam', loss='categorical_crossentropy', metrics=['accuracy'])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33" y="390049"/>
            <a:ext cx="5912406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регуляризации в PyTorch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33" y="1116568"/>
            <a:ext cx="129913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Аналогичный пример на PyTorch с использованием Dropout и Batch Normalization: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33" y="1502807"/>
            <a:ext cx="12991386" cy="6336625"/>
          </a:xfrm>
          <a:prstGeom prst="roundRect">
            <a:avLst>
              <a:gd name="adj" fmla="val 940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89109" y="1502807"/>
            <a:ext cx="13005435" cy="6336625"/>
          </a:xfrm>
          <a:prstGeom prst="roundRect">
            <a:avLst>
              <a:gd name="adj" fmla="val 336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30793" y="1609130"/>
            <a:ext cx="12722066" cy="612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torch.nn.functional as F
class CNNWithRegularization(nn.Module):
    def __init__(self):
        super(CNNWithRegularization, self).__init__()
        self.conv1 = nn.Conv2d(3, 32, kernel_size=3, padding=1)
        self.bn1 = nn.BatchNorm2d(32)
        self.conv2 = nn.Conv2d(32, 64, kernel_size=3, padding=1)
        self.bn2 = nn.BatchNorm2d(64)
        self.pool = nn.MaxPool2d(2, 2)
        self.fc1 = nn.Linear(64 * 16 * 16, 128)
        self.dropout = nn.Dropout(0.5)
        self.fc2 = nn.Linear(128, 10)
    def forward(self, x):
        x = self.pool(F.relu(self.bn1(self.conv1(x))))
        x = self.pool(F.relu(self.bn2(self.conv2(x))))
        x = x.view(x.size(0), -1)
        x = F.relu(self.fc1(x))
        x = self.dropout(x)
        x = self.fc2(x)
        return x
model = CNNWithRegularization()
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9847"/>
            <a:ext cx="11863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в свёрточных нейронных сетях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92254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работы свёрточных нейронных сетей представляет собой важнейшую задачу для повышения доверия к моделям, особенно в критически важных областях применения.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00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Цель интерпретации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81168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цель - оценить вклад входных признаков и выявить, какие области изображения наиболее существенно влияют на предсказание модели.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4000024"/>
            <a:ext cx="3006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интерпретации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581168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интерпретации опираются на вычисление градиентов, анализ активационных карт и распространение релевантности по слоям сети.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4000024"/>
            <a:ext cx="3020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Количественная оценка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581168"/>
            <a:ext cx="38617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Интерпретационные методы позволяют получить количественную оценку вклада каждого пикселя или нейрона в итоговое решение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837"/>
            <a:ext cx="9270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Основные принципы интерпретации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8777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модель (f: ℝH×W×C → ℝK) принимает на вход изображение (I) и выдаёт вектор логитов или вероятностей классов.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16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259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294697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важности признаков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139446"/>
            <a:ext cx="33051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работы модели включает оценку важности отдельных входных признаков (I(i,j,c)) для итогового предсказания.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216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259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294697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Чувствительность к изменениям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139446"/>
            <a:ext cx="330517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Если обозначить функцию потерь как (ℒ(I, y)), то чувствительность выходного результата к изменению входного пикселя определяется как частная производная S(i,j,c) = |∂ℒ(I, y)/∂I(i,j,c)|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216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259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294697"/>
            <a:ext cx="3254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Основа для saliency maps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3785116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Этот подход является основой для вычисления saliency maps, где абсолютное значение градиента используется в качестве показателя значимости.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8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182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saliency maps заключается в вычислении градиента функции потерь по входному изображению, что позволяет выделить те пиксели, изменение которых приводит к наибольшему изменению предсказания.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278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37215"/>
            <a:ext cx="33656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определение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927634"/>
            <a:ext cx="361116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 (M) определяется как: M(i,j) = maxc∈{1,...,C}|∂ℒ(I, y)/∂I(i,j,c)|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20278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437215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чувствительных областей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281964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Вычисление такой карты позволяет визуализировать наиболее чувствительные области изображения, способствуя лучшему пониманию того, какие признаки модель считает ключевыми для принятия решения.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20278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437215"/>
            <a:ext cx="34036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Практическое применение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3927634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maps помогают разработчикам и пользователям моделей понять, на какие части изображения модель обращает внимание при классификации, что критически важно для доверия к системе.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90312"/>
            <a:ext cx="9465826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Saliency Maps в TensorFlow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1403" y="1583174"/>
            <a:ext cx="12736116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кода для вычисления saliency map с использованием TensorFlow: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1403" y="2168009"/>
            <a:ext cx="12736116" cy="5472589"/>
          </a:xfrm>
          <a:prstGeom prst="roundRect">
            <a:avLst>
              <a:gd name="adj" fmla="val 1648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740688" y="2168009"/>
            <a:ext cx="12757547" cy="5472589"/>
          </a:xfrm>
          <a:prstGeom prst="roundRect">
            <a:avLst>
              <a:gd name="adj" fmla="val 58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955358" y="2328982"/>
            <a:ext cx="12328208" cy="515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def compute_saliency(model, input_image, target_class):
    input_image = tf.convert_to_tensor(input_image)
    input_image = tf.Variable(input_image)
    with tf.GradientTape() as tape:
        predictions = model(input_image)
        loss = tf.keras.losses.sparse_categorical_crossentropy([target_class], predictions)
    gradients = tape.gradient(loss, input_image)
    saliency = tf.reduce_max(tf.abs(gradients), axis=-1)
    return saliency.numpy()
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235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Grad-CAM (Gradient-weighted Class Activation Mapping)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0077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Grad-CAM использует градиенты, полученные от выходного слоя, для вычисления важности каждого фильтра последнего сверточного слоя.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01033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3501033"/>
            <a:ext cx="3624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Вычисление весов фильтров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991451"/>
            <a:ext cx="121835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каждого фильтра (k) вычисляется вес αk = (1/Z)∑i=1H'∑j=1W'∂ℒ(I, y)/∂Alk(i,j), где Z – нормирующий множитель, равный H'×W'.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494407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4944070"/>
            <a:ext cx="4098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Формирование карты внимания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5434489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Итоговая карта внимания определяется как: LGrad-CAM = ReLU(∑k=1KαkAlk)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6024205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60242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Применение ReLU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6514624"/>
            <a:ext cx="1150310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ReLU используется для того, чтобы фокусироваться только на тех признаках, способствующих положительному влиянию на итоговое решение.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0956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Grad-CAM в PyTorch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0906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Grad-CAM на PyTorch: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201936"/>
            <a:ext cx="13090684" cy="7246620"/>
          </a:xfrm>
          <a:prstGeom prst="roundRect">
            <a:avLst>
              <a:gd name="adj" fmla="val 65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391239" y="1201936"/>
            <a:ext cx="13101876" cy="7246620"/>
          </a:xfrm>
          <a:prstGeom prst="roundRect">
            <a:avLst>
              <a:gd name="adj" fmla="val 235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504587" y="1286947"/>
            <a:ext cx="12875181" cy="7076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torch.nn.functional as F
import cv2
import numpy as np
def grad_cam(model, input_tensor, target_class):
    activations = {}
    gradients = {}
    def save_activation(module, input, output):
        activations['value'] = output.detach()
    def save_gradient(module, grad_input, grad_output):
        gradients['value'] = grad_output[0].detach()
    # Регистрируем хуки для последнего сверточного слоя
    target_layer = model.layer4[-1]
    hook_a = target_layer.register_forward_hook(save_activation)
    hook_g = target_layer.register_backward_hook(save_gradient)
    output = model(input_tensor)
    one_hot = torch.zeros(output.size(), device=output.device)
    one_hot[0, target_class] = 1
    output.backward(gradient=one_hot)
    activation = activations['value']
    gradient = gradients['value']
    weights = torch.mean(gradient, dim=(2, 3), keepdim=True)
    cam = torch.sum(weights * activation, dim=1)
    cam = F.relu(cam)
    cam = cam.squeeze().cpu().numpy()
    cam = cv2.resize(cam, (input_tensor.shape[2], input_tensor.shape[3]))
    hook_a.remove()
    hook_g.remove()
    return cam
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83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Occlusion Sensitivity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0803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occlusion sensitivity основан на систематическом затемнении (или обнулении) частей входного изображения и оценке изменения предсказания модели.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8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Принцип метода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99717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(I) – исходное изображение, а (I(i,j)occluded) – изображение, в котором область с координатами ((i,j)) заменена на фиксированное значение (например, нули).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818573"/>
            <a:ext cx="35166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Изменение функции потерь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399717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Изменение функции потерь определяется как Δℒ(i,j) = ℒ(I(i,j)occluded, y) - ℒ(I, y)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818573"/>
            <a:ext cx="3555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результатов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9717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Пиксели или области, при затемнении которых наблюдается значительное увеличение функции потерь, интерпретируются как имеющие высокую важность для предсказания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70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5942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 представляют собой метод, направленный на сглаживание влияния локальных флуктуаций градиентов.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939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4365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471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Идея метода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962281"/>
            <a:ext cx="330517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Идея метода заключается в том, чтобы вычислить интеграл градиентов по прямой линии от базового ввода (I') (например, изображения с нулевыми значениями) до исходного изображения (I).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3939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4365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471863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определение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316611"/>
            <a:ext cx="33051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(i)-го входного признака интегрированные градиенты определяются как: IntegratedGradientsi(I) = (Ii - I'i) × ∫α=01∂ℒ(I' + α(I - I'))/∂Iidα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3939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4365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471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3962281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Эта методика позволяет усреднить влияние градиентов по всему пути, что приводит к более стабильной и интерпретируемой оценке значимости признаков.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037" y="379571"/>
            <a:ext cx="6987897" cy="43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Integrated Gradients в TensorFlow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3037" y="1086922"/>
            <a:ext cx="13004483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Integrated Gradients на TensorFlow: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3037" y="1462921"/>
            <a:ext cx="13004483" cy="6387703"/>
          </a:xfrm>
          <a:prstGeom prst="roundRect">
            <a:avLst>
              <a:gd name="adj" fmla="val 908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1462921"/>
            <a:ext cx="13018056" cy="6387703"/>
          </a:xfrm>
          <a:prstGeom prst="roundRect">
            <a:avLst>
              <a:gd name="adj" fmla="val 324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14243" y="1566386"/>
            <a:ext cx="12742069" cy="618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import numpy as np
def integrated_gradients(model, input_image, target_class, baseline=None, steps=50):
    if baseline is None:
        baseline = np.zeros_like(input_image)
    interpolated_images = [
        baseline + (float(i) / steps) * (input_image - baseline)
        for i in range(steps + 1)
    ]
    interpolated_images = np.array(interpolated_images, dtype=np.float32)
    gradients = []
    for img in interpolated_images:
        img = tf.convert_to_tensor(img[np.newaxis, ...])
        with tf.GradientTape() as tape:
            tape.watch(img)
            prediction = model(img)
            loss = tf.keras.losses.sparse_categorical_crossentropy([target_class], prediction)
        grad = tape.gradient(loss, img)
        gradients.append(grad.numpy()[0])
    avg_gradients = np.average(gradients, axis=0)
    integrated_grad = (input_image - baseline) * avg_gradients
    return integrated_grad
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6744"/>
            <a:ext cx="9755029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Layer-wise Relevance Propagation (LRP)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55" y="1763316"/>
            <a:ext cx="12704564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Layer-wise Relevance Propagation представляет собой метод, основанный на принципе сохранения релевантности через слои сети.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668066" y="3856077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Принцип сохранения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2955" y="4339828"/>
            <a:ext cx="3681532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(Rj(l+1)) – релевантность нейрона (j) на слое (l+1), тогда для нейрона (i) на предыдущем слое релевантность вычисляется по правилу сохранения: ∑iRi(l) = ∑jRj(l+1)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1923" y="2948464"/>
            <a:ext cx="4446508" cy="4446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34667" y="4694813"/>
            <a:ext cx="334685" cy="4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693950" y="2730698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Правило LRP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93950" y="3214449"/>
            <a:ext cx="3793569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Один из вариантов правила LRP для нейронов с положительными активациями записывается как: Ri(l) = ∑j(ai(l)wij)/(∑i'ai'(l)wi'j + ε)Rj(l+1)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923" y="2948464"/>
            <a:ext cx="4446508" cy="44465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66055" y="3768507"/>
            <a:ext cx="334685" cy="4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9693950" y="4981575"/>
            <a:ext cx="285071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метода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693950" y="5465326"/>
            <a:ext cx="3793569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Такой подход позволяет последовательно распределять вклад итогового решения обратно по слоям, что даёт детальное понимание вклада каждого нейрона и входного пикселя.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923" y="2948464"/>
            <a:ext cx="4446508" cy="44465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2664" y="6423839"/>
            <a:ext cx="334685" cy="4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7313"/>
            <a:ext cx="122059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Сравнительный анализ методов интерпретации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7972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saliency maps, Grad-CAM, occlusion sensitivity, Integrated Gradients и LRP обладают различными преимуществами и ограничениями.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60677"/>
            <a:ext cx="126937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метод имеет свои особенности: saliency maps могут быть чувствительны к шуму градиентов, Grad-CAM фокусируется на последнем сверточном слое, occlusion sensitivity требует значительных вычислений, Integrated Gradients обеспечивает стабильность через усреднение, а LRP позволяет детально проследить путь релевантности через всю архитектуру.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988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Математический аппарат интерпретационных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57607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глубокого понимания методов интерпретации важно рассматривать их с точки зрения математической строгости и устойчивости к флуктуациям.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38563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972997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Локальное линейное приближение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817745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(f(I)) – функция, задающая выход модели, и (I) – входное изображение. Тогда для метода saliency можно записать локальное линейное приближение: f(I + δI) ≈ f(I) + ∇If(I) · δI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738563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972997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Интегральное представление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817745"/>
            <a:ext cx="36111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рамках Integrated Gradients вводится интегральное представление: ∫01∇If(I' + α(I - I'))dα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738563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972997"/>
            <a:ext cx="3498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Сохранение релевантности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463415"/>
            <a:ext cx="361116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случае LRP ключевым моментом является требование сохранения релевантности: ∑iRi(l) = R(L)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4534"/>
            <a:ext cx="75470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градиентных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8347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Градиентные методы интерпретации, такие как saliency maps и Integrated Gradients, опираются на вычисление производных функции потерь по входным данным.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644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1069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1422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разрывов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632716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Нелинейные активационные функции, такие как ReLU, могут приводить к разрывам в градиенте, что требует особого внимания при интерпретации.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282458" y="30644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7528" y="31069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019574" y="3142298"/>
            <a:ext cx="31100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Интегрирование по пути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19574" y="3632716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Интегрирование по пути от базового ввода к исходному помогает сгладить эти эффекты и получить более надежную оценку.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750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860" y="52175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252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Формальная запись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30906" y="5743337"/>
            <a:ext cx="546806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(I(α) = I' + α(I - I')); тогда интегрированные градиенты записываются как: IGi(I) = (Ii - I'i) · ∫01∂f(I(α))/∂Iidα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282458" y="51750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7528" y="52175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8019574" y="5252918"/>
            <a:ext cx="37958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Аддитивность интерпретаций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19574" y="5743337"/>
            <a:ext cx="546806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Данный подход обеспечивает аддитивность интерпретаций, то есть сумма вкладов по всем признакам совпадает с разностью предсказаний модели для (I) и (I').</a:t>
            </a:r>
            <a:endParaRPr lang="en-US" sz="1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49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Влияние нормализации и регуляризации на интерпретацию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368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Регуляризационные методы, такие как Batch Normalization и Dropout, не только улучшают общую обобщающую способность модели, но и влияют на интерпретируемость её решений.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72595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стабилизирует распределение входов для каждого слоя, что приводит к более стабильным градиентам и, соответственно, к более надёжным saliency maps.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572595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Dropout, устраняя избыточную зависимость от отдельных нейронов, способствует распределению вклада по различным признакам, что также улучшает интерпретируемость.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991451"/>
            <a:ext cx="3410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Комбинированный эффект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57259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Совместное применение методов регуляризации и нормализации создаёт более устойчивую и интерпретируемую модель, способную лучше обобщать данные и предоставлять более надёжные объяснения своих решений.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498"/>
            <a:ext cx="73111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Математический анализ LRP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98439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методе LRP используется правило пропорционального распределения релевантности.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16493"/>
            <a:ext cx="1134070" cy="1360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022" y="2643307"/>
            <a:ext cx="31250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Правило распределения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68022" y="3133725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нейронов, связанных весами (wij) и активациями (ai), можно записать: Ri = ∑j(aiwij)/(∑i'ai'wi'j + ε)Rj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777377"/>
            <a:ext cx="1134070" cy="16698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68022" y="40041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Принцип сохранения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268022" y="4494609"/>
            <a:ext cx="112194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условии, что ∑iRi = Routput, данное правило удовлетворяет принципу сохранения суммарной релевантности.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47228"/>
            <a:ext cx="1134070" cy="20327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68022" y="56740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Применимость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268022" y="6164461"/>
            <a:ext cx="1121949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Математическая строгость этого метода позволяет применять его даже для сложных архитектур с многочисленными нелинейностями, что является важным аспектом для интерпретации глубоких свёрточных сетей.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9823"/>
            <a:ext cx="7363539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saliency maps на PyTorch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1268" y="1310640"/>
            <a:ext cx="12866251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saliency maps для модели, обученной на задаче классификации изображений: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268" y="1794272"/>
            <a:ext cx="12866251" cy="5945505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12458" y="1794272"/>
            <a:ext cx="12883872" cy="5945505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9861" y="1927384"/>
            <a:ext cx="12529066" cy="567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torch.nn.functional as F
import matplotlib.pyplot as plt
def get_saliency_map(model, image, target_class):
    image = image.unsqueeze(0)
    image.requires_grad_()
    output = model(image)
    loss = F.cross_entropy(output, torch.tensor([target_class], device=image.device))
    loss.backward()
    saliency, _ = torch.max(image.grad.data.abs(), dim=1)
    return saliency.squeeze().cpu().numpy()
# Пример использования:
# saliency_map = get_saliency_map(model, input_image, target_class=3)
# plt.imshow(saliency_map, cmap='hot')
# plt.show()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9823"/>
            <a:ext cx="8030051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 на PyTorch с Captum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1268" y="1310640"/>
            <a:ext cx="12866251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вычисления интегрированных градиентов с использованием библиотеки Captum: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268" y="1794272"/>
            <a:ext cx="12866251" cy="5945505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12458" y="1794272"/>
            <a:ext cx="12883872" cy="5945505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9861" y="1927384"/>
            <a:ext cx="12529066" cy="567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captum.attr import IntegratedGradients
def compute_integrated_gradients(model, input_tensor, target_class, baseline=None, steps=50):
    ig = IntegratedGradients(model)
    attributions, delta = ig.attribute(
        input_tensor,
        baselines=baseline,
        target=target_class,
        return_convergence_delta=True,
        n_steps=steps
    )
    return attributions, delta
# Пример использования:
# attributions, delta = compute_integrated_gradients(model, input_tensor, target_class=3)
# plt.imshow(attributions.squeeze().permute(1, 2, 0).detach().cpu().numpy())
# plt.show()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0050"/>
            <a:ext cx="116059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влияния интерпретационных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98990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интерпретации имеют особое значение при разработке систем, где необходимо обеспечить объяснимость и прозрачность решений модели.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79946"/>
            <a:ext cx="4080034" cy="349960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614380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Критические области применения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459129"/>
            <a:ext cx="3611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медицине, автономном вождении и системах безопасности интерпретируемость становится критерием доверия и безопасности.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379946"/>
            <a:ext cx="4080034" cy="349960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614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Выявление ошибок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104799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Математическая строгость, подтверждаемая экспериментально, демонстрирует, что интеграция таких методов способствует выявлению и коррекции систематических ошибок модели.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379946"/>
            <a:ext cx="4080034" cy="349960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614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Аудит предсказаний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104799"/>
            <a:ext cx="3611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Интерпретационные методы позволяют проводить аудит предсказаний с целью улучшения архитектуры и алгоритмов обучения.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1044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Комбинированное использование методов интерпретации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2230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Методология, основанная на комбинированном использовании нескольких подходов, позволяет достичь более полной картины работы модели.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0000"/>
            <a:ext cx="3348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maps + Grad-CAM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91144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Совмещение saliency maps с Grad-CAM дает возможность не только выявить важные пиксели, но и оценить вклад каждого фильтра последнего сверточного слоя, что позволяет глубже понять структуру извлекаемых признаков.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810000"/>
            <a:ext cx="3276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 + LRP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391144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Интегрированные градиенты и LRP предоставляют количественные оценки, позволяющие корректировать гиперпараметры и архитектурные решения с целью повышения интерпретируемости.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810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Комплексный подход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1144"/>
            <a:ext cx="3861792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Комплексное применение методов интерпретации становится неотъемлемой частью разработки современных свёрточных нейронных сетей и требует глубокого понимания как теоретических основ, так и практических аспектов их реализации.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6687"/>
            <a:ext cx="9507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адаптации гиперпараметров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5628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Продвинутая настройка оптимизационных алгоритмов является важным компонентом в построении высокоточных свёрточных нейронных сетей.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46584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3146584"/>
            <a:ext cx="4316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Динамическая скорость обучения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637002"/>
            <a:ext cx="121835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(η0) – начальное значение скорости обучения, тогда часто используется функция расписания, задающая зависимость скорости обучения от номера итерации (t): ηt = η0 · f(t)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4589621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4589621"/>
            <a:ext cx="3767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Экспоненциальное затухание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5080040"/>
            <a:ext cx="118433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Одним из распространённых подходов является экспоненциальное затухание, когда функция расписания имеет вид: ηt = η0exp(-λt)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603265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6032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Циклический график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6523077"/>
            <a:ext cx="115031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Циклический метод с косинусным затуханием задаётся формулой: ηt = ηmin + (1/2)(ηmax - ηmin)(1 + cos(tπ/T))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099"/>
            <a:ext cx="11232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Ранняя остановка и поиск гиперпараметров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3040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Механизмы ранней остановки и методы поиска оптимальных гиперпараметров позволяют повысить эффективность обучения и избежать переобучения.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939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4365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471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Ранняя остановка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962281"/>
            <a:ext cx="330517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(ℒval(t)) – функция потерь на валидационном наборе, тогда модель может быть остановлена, если ℒval(t + k) ≥ ℒval(t) для некоторого количества последовательных итераций (k).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3939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4365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471863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Grid Search и Random Search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316611"/>
            <a:ext cx="330517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Grid Search и Random Search исследуют пространство параметров (Θ = {θ1, θ2, ..., θn}) с целью нахождения оптимального набора, минимизирующего функцию потерь.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3939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4365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471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Bayesian Optimization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3962281"/>
            <a:ext cx="330517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подходы включают Bayesian Optimization, при котором на основе построенной вероятностной модели зависимости функции потерь от гиперпараметров выбираются новые точки для эксперимента.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335" y="716280"/>
            <a:ext cx="12334756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динамического изменения скорости обучения в Keras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2335" y="1485781"/>
            <a:ext cx="12905184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динамического изменения скорости обучения в Keras с использованием колбэка LearningRateScheduler: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2335" y="1939171"/>
            <a:ext cx="12905184" cy="5574030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574119" y="1939171"/>
            <a:ext cx="12921615" cy="5574030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40450" y="2063948"/>
            <a:ext cx="12588954" cy="532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import math
def cosine_annealing(epoch, lr):
    eta_min = 1e-5
    eta_max = 1e-3
    T = 50  # общий период
    lr = eta_min + 0.5 * (eta_max - eta_min) * (1 + math.cos(math.pi * epoch / T))
    return lr
lr_scheduler = tf.keras.callbacks.LearningRateScheduler(cosine_annealing)
model.compile(
    optimizer=tf.keras.optimizers.Adam(learning_rate=1e-3),
    loss='categorical_crossentropy',
    metrics=['accuracy']
)
# model.fit(X_train, y_train, epochs=100, callbacks=[lr_scheduler], validation_data=(X_val, y_val))
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652" y="505658"/>
            <a:ext cx="11288911" cy="57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Динамическая настройка скорости обучения в PyTorch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3652" y="1356241"/>
            <a:ext cx="12843867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Аналогичная динамическая настройка скорости обучения в PyTorch может быть реализована с использованием класса torch.optim.lr_scheduler.CosineAnnealingLR: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3652" y="2151698"/>
            <a:ext cx="12843867" cy="5573554"/>
          </a:xfrm>
          <a:prstGeom prst="roundRect">
            <a:avLst>
              <a:gd name="adj" fmla="val 1386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34484" y="2151698"/>
            <a:ext cx="12862203" cy="5573554"/>
          </a:xfrm>
          <a:prstGeom prst="roundRect">
            <a:avLst>
              <a:gd name="adj" fmla="val 495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818317" y="2289572"/>
            <a:ext cx="12494538" cy="529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torch.optim as optim
model = SimpleCNN()  # Предполагается, что SimpleCNN определена ранее
optimizer = optim.Adam(model.parameters(), lr=1e-3)
scheduler = optim.lr_scheduler.CosineAnnealingLR(optimizer, T_max=50, eta_min=1e-5)
for epoch in range(100):
    for inputs, labels in dataloader:
        optimizer.zero_grad()
        outputs = model(inputs)
        loss = criterion(outputs, labels)
        loss.backward()
        optimizer.step()
    scheduler.step()
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8981"/>
            <a:ext cx="125409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Влияние структурных особенностей архитектуры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792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Структура архитектуры свёрточной нейронной сети оказывает существенное влияние на процессы оптимизации, регуляризации и интерпретации.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9887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192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Остаточные связи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683085"/>
            <a:ext cx="404217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архитектурные решения, такие как остаточные (Residual) сети, значительно изменяют динамику распространения градиентов, что непосредственно влияет на эффективность обучения.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49" y="339887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19449" y="4192667"/>
            <a:ext cx="30215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Плотно-связанные сети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119449" y="4683085"/>
            <a:ext cx="40422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Плотно-связанные (Dense) сети влияют на распределение активаций по слоям, что важно для интерпретируемости модели.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228" y="339887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45228" y="4192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Inception-модули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445228" y="4683085"/>
            <a:ext cx="40422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Архитектуры с параллельными путями (например, Inception) способствуют более комплексной интерпретации извлекаемых признаков.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843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Остаточные связи и их математическое обоснование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615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архитектурах типа ResNet используются остаточные блоки, которые позволяют осуществлять прямое перенаправление информации от входа блока к его выходу.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5711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791545"/>
            <a:ext cx="29054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описание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81964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Остаточный блок описывается уравнением: y = ℱ(x, {Wi}) + x, где ℱ(x, {Wi}) – функция, представляющая собой серию сверточных, нормализующих и активационных слоёв.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55711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791545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Борьба с исчезающими градиентами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636294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конструкция помогает бороться с проблемой исчезающих градиентов, так как позволяет сигналу напрямую проходить через несколько слоёв, облегчая вычисление градиентов.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55711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791545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Сохранение нормы градиента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636294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Математический анализ таких блоков показывает, что остаточные связи способствуют сохранению нормы градиента даже при увеличении глубины сети, что существенно улучшает оптимизацию параметров.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924" y="1062157"/>
            <a:ext cx="12369284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Плотно-связанные сети и влияние на регуляризацию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5924" y="2021324"/>
            <a:ext cx="12761595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DenseNet, или плотно-связанные сети, характеризуются тем, что каждый слой получает на вход все предыдущие активации.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24" y="2586395"/>
            <a:ext cx="1037034" cy="15269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74069" y="2793802"/>
            <a:ext cx="3112532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Математическое описание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074069" y="3242310"/>
            <a:ext cx="11413450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xl = Hl([x0, x1, ..., xl-1]), где [x0, x1, ..., xl-1] – конкатенация выходов предыдущих слоёв, а Hl – функция преобразования для l-го слоя.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24" y="4113371"/>
            <a:ext cx="1037034" cy="15269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74069" y="4320778"/>
            <a:ext cx="470058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Эффективное использование признаков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074069" y="4769287"/>
            <a:ext cx="11413450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архитектура приводит к более эффективному использованию признаков и способствует усилению регуляризации за счёт распределения информации между слоями.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24" y="5640348"/>
            <a:ext cx="1037034" cy="15269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74069" y="5847755"/>
            <a:ext cx="3501866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Устойчивость к переобучению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2074069" y="6296263"/>
            <a:ext cx="11413450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результате модель становится менее чувствительной к переобучению, а интерпретация её решений становится более устойчивой, так как вклад каждого слоя может быть прослежен через цепочку взаимосвязей.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49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Влияние нормализации и активационных функций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368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Использование Batch Normalization и различных активационных функций существенно влияет на процесс обучения и интерпретацию результатов.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7259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не только ускоряет сходимость, но и сглаживает оптимизационный ландшафт, что положительно сказывается на стабильности вычисления градиентов и интерпретации saliency maps.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ReLU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572595"/>
            <a:ext cx="38617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ReLU способствует разреженности активаций, что может быть важно для интерпретации, но создаёт проблему "мёртвых нейронов".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Leaky ReLU и ELU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572595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Leaky ReLU и ELU обеспечивают более гладкое поведение при отрицательных значениях, что может быть критически важно для методов интегрированных градиентов.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48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Архитектурные решения и их влияние на интерпретацию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020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Глубокие архитектуры с остаточными связями и параллельными путями способствуют более комплексной интерпретации извлекаемых признаков.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711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6136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649028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Grad-CAM и LRP для сложных архитектур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493776"/>
            <a:ext cx="330517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Grad-CAM и LRP, применяемые для таких архитектур, позволяют выделять не только локальные, но и глобальные зависимости, показывая, какие участки изображения активируют конкретные блоки сети.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5711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6136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649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Inception-модули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139446"/>
            <a:ext cx="330517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Математическая модель Inception предполагает параллельное применение свёрточных фильтров различных размеров, что можно записать как: y = [ℱ1(x), ℱ3(x), ℱ5(x)]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5711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6136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649028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Многоуровневые характеристики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4493776"/>
            <a:ext cx="330517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архитектура позволяет модели извлекать признаки на различных масштабах, что, в свою очередь, улучшает интерпретируемость за счёт возможности выделять многоуровневые характеристики изображения.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302" y="400883"/>
            <a:ext cx="6842998" cy="45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остаточного блока на PyTorch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10302" y="1148120"/>
            <a:ext cx="12977217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Рассмотрим пример создания остаточного блока на PyTorch, который демонстрирует влияние skip-соединений: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10302" y="1545431"/>
            <a:ext cx="12977217" cy="6286024"/>
          </a:xfrm>
          <a:prstGeom prst="roundRect">
            <a:avLst>
              <a:gd name="adj" fmla="val 97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503039" y="1545431"/>
            <a:ext cx="12991743" cy="6286024"/>
          </a:xfrm>
          <a:prstGeom prst="roundRect">
            <a:avLst>
              <a:gd name="adj" fmla="val 3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48772" y="1654731"/>
            <a:ext cx="12700278" cy="6067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
import torch.nn.functional as F
class ResidualBlock(nn.Module):
    def __init__(self, in_channels, out_channels, stride=1, downsample=None):
        super(ResidualBlock, self).__init__()
        self.conv1 = nn.Conv2d(in_channels, out_channels, kernel_size=3, stride=stride, padding=1, bias=False)
        self.bn1 = nn.BatchNorm2d(out_channels)
        self.conv2 = nn.Conv2d(out_channels, out_channels, kernel_size=3, stride=1, padding=1, bias=False)
        self.bn2 = nn.BatchNorm2d(out_channels)
        self.downsample = downsample
    def forward(self, x):
        identity = x
        out = F.relu(self.bn1(self.conv1(x)))
        out = self.bn2(self.conv2(out))
        if self.downsample is not None:
            identity = self.downsample(x)
        out += identity
        out = F.relu(out)
        return out
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6" y="342662"/>
            <a:ext cx="5656540" cy="389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Inception-модуля на PyTorch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36126" y="981313"/>
            <a:ext cx="1305139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архитектуры Inception можно организовать параллельную обработку входных данных: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36126" y="1320879"/>
            <a:ext cx="13051393" cy="6568678"/>
          </a:xfrm>
          <a:prstGeom prst="roundRect">
            <a:avLst>
              <a:gd name="adj" fmla="val 79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29935" y="1320879"/>
            <a:ext cx="13063776" cy="6568678"/>
          </a:xfrm>
          <a:prstGeom prst="roundRect">
            <a:avLst>
              <a:gd name="adj" fmla="val 285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554474" y="1414343"/>
            <a:ext cx="12814697" cy="638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
class InceptionModule(nn.Module):
    def __init__(self, in_channels, out1x1, red3x3, out3x3, red5x5, out5x5, pool_proj):
        super(InceptionModule, self).__init__()
        self.branch1 = nn.Conv2d(in_channels, out1x1, kernel_size=1)
        self.branch2 = nn.Sequential(
            nn.Conv2d(in_channels, red3x3, kernel_size=1),
            nn.Conv2d(red3x3, out3x3, kernel_size=3, padding=1)
        )
        self.branch3 = nn.Sequential(
            nn.Conv2d(in_channels, red5x5, kernel_size=1),
            nn.Conv2d(red5x5, out5x5, kernel_size=5, padding=2)
        )
        self.branch4 = nn.Sequential(
            nn.MaxPool2d(kernel_size=3, stride=1, padding=1),
            nn.Conv2d(in_channels, pool_proj, kernel_size=1)
        )
    def forward(self, x):
        branch1 = self.branch1(x)
        branch2 = self.branch2(x)
        branch3 = self.branch3(x)
        branch4 = self.branch4(x)
        outputs = [branch1, branch2, branch3, branch4]
        return torch.cat(outputs, 1)
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8598"/>
            <a:ext cx="126113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Системный анализ и оценка производительности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7539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Комплексная оценка эффективности методов оптимизации, регуляризации и интерпретации требует системного подхода, включающего не только количественные метрики, но и качественный анализ внутренней динамики модели.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ландшафта функции потерь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77678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ландшафта функции потерь позволяет исследовать геометрию оптимизационного пространства и выявлять особенности, способствующие либо ускорению, либо замедлению сходимости.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432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гессиана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3923348"/>
            <a:ext cx="361116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исследования ландшафта функции потерь (ℒ(θ)) используется анализ её гессиана (H(θ)). Спектральный анализ, включающий вычисление собственных значений гессиана, позволяет оценить степень выпуклости локальных областей.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стабильности оптимизации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277678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распределения собственных значений даёт представление о стабильности оптимизации и эффективности выбранного метода регуляризации.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7002"/>
            <a:ext cx="11594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оптимизационного ландшафта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5942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Методы, такие как t-SNE и PCA, могут быть применены для уменьшения размерности параметрического пространства и визуализации траекторий оптимизации.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568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7994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834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Проекция параметров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325183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(θt) – параметры модели на итерации (t), тогда их проекция в двумерное пространство позволяет наблюдать пути, пройденные оптимизационным алгоритмом.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7568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7994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834765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влияния регуляризации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679513"/>
            <a:ext cx="33051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помогает оценивать влияние регуляризации на гладкость траекторий и стабильность сходимости.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7568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7994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834765"/>
            <a:ext cx="2951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Сравнение алгоритмов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4325183"/>
            <a:ext cx="33051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позволяет сравнивать различные оптимизационные алгоритмы и их поведение в сложных ландшафтах функций потерь.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043" y="566857"/>
            <a:ext cx="11157942" cy="643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визуализации траектории оптимизации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043" y="1519595"/>
            <a:ext cx="1276647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визуализации траектории оптимизации в Python с использованием библиотеки Matplotlib: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1043" y="2080855"/>
            <a:ext cx="12766477" cy="5581888"/>
          </a:xfrm>
          <a:prstGeom prst="roundRect">
            <a:avLst>
              <a:gd name="adj" fmla="val 1550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710803" y="2080855"/>
            <a:ext cx="12786955" cy="5581888"/>
          </a:xfrm>
          <a:prstGeom prst="roundRect">
            <a:avLst>
              <a:gd name="adj" fmla="val 554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916781" y="2235279"/>
            <a:ext cx="12374999" cy="5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
import numpy as np
from sklearn.decomposition import PCA
# Предположим, что history содержит массив параметров модели на различных эпохах
# history.shape = (num_epochs, num_parameters)
pca = PCA(n_components=2)
projected = pca.fit_transform(history)
plt.figure(figsize=(8,6))
plt.plot(projected[:, 0], projected[:, 1], marker='o')
plt.xlabel('PCA Component 1')
plt.ylabel('PCA Component 2')
plt.title('Trajectory of Model Parameters during Optimization')
plt.show()
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9779"/>
            <a:ext cx="9420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интерпретационных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52186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проверки корректности и устойчивости методов интерпретации используются метрики, основанные на консистентности результатов при небольших возмущениях входных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59956"/>
            <a:ext cx="3761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Метрика разности атрибуций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041100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(I) – исходное изображение, а (I') – его возмущённая версия, тогда разница в значениях атрибуций может быть измерена нормой разности: ΔA = |A(I) - A(I')|2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459956"/>
            <a:ext cx="3764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Стабильность интерпретаций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041100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Малые значения (ΔA) свидетельствуют о стабильности интерпретационных методов.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459956"/>
            <a:ext cx="38617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Кросс-валидация интерпретаций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5430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Дополнительно применяются методы кросс-валидации интерпретаций, когда несколько различных методов (saliency maps, Grad-CAM, Integrated Gradients, LRP) сравниваются между собой для получения более полной картины работы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9823"/>
            <a:ext cx="9108877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вычисления стабильности атрибуций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1268" y="1310640"/>
            <a:ext cx="12866251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Ниже приведён пример вычисления разницы атрибуций для проверки стабильности метода Integrated Gradients: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268" y="1794272"/>
            <a:ext cx="12866251" cy="5945505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12458" y="1794272"/>
            <a:ext cx="12883872" cy="5945505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9861" y="1927384"/>
            <a:ext cx="12529066" cy="567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
def attribution_stability(model, input_image, target_class, baseline, perturbation):
    # Вычисление атрибуций для исходного изображения
    attributions_original = integrated_gradients(model, input_image, target_class, baseline=baseline, steps=50)
    # Применение возмущения к изображению
    input_perturbed = input_image + perturbation
    attributions_perturbed = integrated_gradients(model, input_perturbed, target_class, baseline=baseline, steps=50)
    # Вычисление нормы разности
    delta_attr = np.linalg.norm(attributions_original - attributions_perturbed)
    return delta_attr
# Пример использования:
# stability_measure = attribution_stability(model, input_image, target_class=3, 
#                                          baseline=baseline_image, 
#                                          perturbation=0.01*np.random.randn(*input_image.shape))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345" y="372666"/>
            <a:ext cx="6789301" cy="42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аудита и диагностики переобучения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4345" y="1067157"/>
            <a:ext cx="1301317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оценки влияния методов регуляризации на обобщающую способность модели используются графики зависимости функции потерь и метрик качества на обучающем и валидационном наборах.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345" y="1436251"/>
            <a:ext cx="13013174" cy="68807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50876" y="8316992"/>
            <a:ext cx="135493" cy="135493"/>
          </a:xfrm>
          <a:prstGeom prst="roundRect">
            <a:avLst>
              <a:gd name="adj" fmla="val 13497"/>
            </a:avLst>
          </a:prstGeom>
          <a:solidFill>
            <a:srgbClr val="4D000D"/>
          </a:solidFill>
          <a:ln/>
        </p:spPr>
      </p:sp>
      <p:sp>
        <p:nvSpPr>
          <p:cNvPr id="6" name="Text 3"/>
          <p:cNvSpPr/>
          <p:nvPr/>
        </p:nvSpPr>
        <p:spPr>
          <a:xfrm>
            <a:off x="4347329" y="8316992"/>
            <a:ext cx="363141" cy="13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Эпоха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46495" y="8316992"/>
            <a:ext cx="135493" cy="135493"/>
          </a:xfrm>
          <a:prstGeom prst="roundRect">
            <a:avLst>
              <a:gd name="adj" fmla="val 13497"/>
            </a:avLst>
          </a:prstGeom>
          <a:solidFill>
            <a:srgbClr val="9C001C"/>
          </a:solidFill>
          <a:ln/>
        </p:spPr>
      </p:sp>
      <p:sp>
        <p:nvSpPr>
          <p:cNvPr id="8" name="Text 5"/>
          <p:cNvSpPr/>
          <p:nvPr/>
        </p:nvSpPr>
        <p:spPr>
          <a:xfrm>
            <a:off x="6442948" y="8316992"/>
            <a:ext cx="1272421" cy="13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Обучающая выборка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251394" y="8316992"/>
            <a:ext cx="135493" cy="135493"/>
          </a:xfrm>
          <a:prstGeom prst="roundRect">
            <a:avLst>
              <a:gd name="adj" fmla="val 13497"/>
            </a:avLst>
          </a:prstGeom>
          <a:solidFill>
            <a:srgbClr val="EC002A"/>
          </a:solidFill>
          <a:ln/>
        </p:spPr>
      </p:sp>
      <p:sp>
        <p:nvSpPr>
          <p:cNvPr id="10" name="Text 7"/>
          <p:cNvSpPr/>
          <p:nvPr/>
        </p:nvSpPr>
        <p:spPr>
          <a:xfrm>
            <a:off x="9447848" y="8316992"/>
            <a:ext cx="1512332" cy="13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Валидационная выборка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4345" y="8875990"/>
            <a:ext cx="1301317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Построение таких графиков позволяет выявить случаи переобучения, когда разрыв между показателями на обучающем и валидационном наборах становится значительным. В сочетании с анализом распределения активаций и градиентов, такие методы аудита позволяют детально оценить внутреннюю динамику модели.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393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автоматизированной валидации и мониторинга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1656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фреймворки, такие как TensorBoard для TensorFlow и Visdom для PyTorch, предоставляют возможности для встраивания автоматизированных инструментов мониторинга.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526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7951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830479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Мониторинг в реальном времени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675227"/>
            <a:ext cx="33051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Инструменты мониторинга позволяют в реальном времени отслеживать динамику обучения, распределение весов, активаций и градиентов.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19568" y="37526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4639" y="37951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56684" y="3830479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Оперативное реагирование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6684" y="4675227"/>
            <a:ext cx="330517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Это позволяет не только оперативно реагировать на проблемы в процессе оптимизации, но и проводить систематический аудит методов оптимизации и регуляризации.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45347" y="37526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0417" y="37951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82463" y="3830479"/>
            <a:ext cx="33051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гистограмм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82463" y="4675227"/>
            <a:ext cx="330517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Использование TensorBoard для визуализации гистограмм весов и градиентов позволяет оценить, насколько эффективно применяется L2-регуляризация и Batch Normalization на каждом этапе обучения.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6944"/>
            <a:ext cx="126282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ансамблирования и knowledge distillation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935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современных исследованиях для повышения обобщающей способности и интерпретируемости моделей широко применяются методы ансамблирования и knowledge distillation.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37121"/>
            <a:ext cx="3512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Ансамблирование моделей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21826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Ансамблирование подразумевает построение совокупности моделей, каждая из которых обучается независимо, а итоговое предсказание получается как агрегат индивидуальных выходов: ŷensemble = ∑m=1Mαmŷm, где ∑m=1Mαm = 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637121"/>
            <a:ext cx="35087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Подходы ансамблирования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21826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Подходы ансамблирования включают bagging (обучение на случайных подмножествах данных), boosting (последовательное обучение с исправлением ошибок) и stacking (объединение через метамодель).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637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Knowledge Distillation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218265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Knowledge distillation представляет собой метод, при котором "учитель" (teacher) – большая и сложная модель – передаёт свои знания "ученику" (student) – более компактной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785"/>
            <a:ext cx="118231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Математические основы Knowledge Distillation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0272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идея knowledge distillation заключается в минимизации разницы между распределениями предсказаний учителя и ученика.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83681"/>
            <a:ext cx="170021" cy="1579126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2783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потерь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274100"/>
            <a:ext cx="121835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потерь для этого подхода часто включает KL-дивергенцию между распределениями: ℒKD = λ·KL(T(y)|S(y)), где T(y) и S(y) – вероятностные распределения, предсказанные учительской и ученической моделями, а λ – весовой коэффициент.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4589621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4589621"/>
            <a:ext cx="3669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Температурное сглаживание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5080040"/>
            <a:ext cx="118433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повышения качества передачи знаний часто применяется температурное сглаживание softmax-функции: softmaxT(zi) = ezi/T/∑jezj/T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603265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6032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 температуры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6523077"/>
            <a:ext cx="1150310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температуре (T &gt; 1) распределение вероятностей "размягчается", выявляя дополнительные зависимости между классами, которые затем используются для обучения компактной модели.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6716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Knowledge Distillation на PyTorch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0906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knowledge distillation на PyTorch: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201936"/>
            <a:ext cx="13090684" cy="8698230"/>
          </a:xfrm>
          <a:prstGeom prst="roundRect">
            <a:avLst>
              <a:gd name="adj" fmla="val 548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391239" y="1201936"/>
            <a:ext cx="13101876" cy="8698230"/>
          </a:xfrm>
          <a:prstGeom prst="roundRect">
            <a:avLst>
              <a:gd name="adj" fmla="val 196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504587" y="1286947"/>
            <a:ext cx="12875181" cy="8528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torch.nn.functional as F
def distillation_loss(student_logits, teacher_logits, temperature, alpha):
    # Вычисление сглаженных распределений
    p_student = F.log_softmax(student_logits / temperature, dim=1)
    p_teacher = F.softmax(teacher_logits / temperature, dim=1)
    # KL-дивергенция между распределениями
    kd_loss = F.kl_div(p_student, p_teacher, reduction='batchmean') * (temperature ** 2)
    return alpha * kd_loss
class StudentModel(nn.Module):
    def __init__(self):
        super(StudentModel, self).__init__()
        # Определение компактной архитектуры
        self.conv = nn.Conv2d(3, 32, kernel_size=3, padding=1)
        self.bn = nn.BatchNorm2d(32)
        self.fc = nn.Linear(32 * 32 * 32, 10)
    def forward(self, x):
        x = F.relu(self.bn(self.conv(x)))
        x = x.view(x.size(0), -1)
        x = self.fc(x)
        return x
# Пример тренировки с использованием distillation_loss:
student = StudentModel()
teacher = ...  # Предобученная сложная модель
optimizer = torch.optim.Adam(student.parameters(), lr=0.001)
temperature = 4.0
alpha = 0.7
for epoch in range(num_epochs):
    for images, labels in dataloader:
        optimizer.zero_grad()
        student_logits = student(images)
        with torch.no_grad():
            teacher_logits = teacher(images)
        loss = distillation_loss(student_logits, teacher_logits, temperature, alpha)
        loss.backward()
        optimizer.step()
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662" y="1022747"/>
            <a:ext cx="12956858" cy="94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Перспективы развития методов оптимизации, регуляризации и интерпретации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30662" y="2273737"/>
            <a:ext cx="12956858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тенденции в области глубокого обучения направлены на создание более устойчивых, эффективных и интерпретируемых моделей.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486" y="2686883"/>
            <a:ext cx="1282660" cy="873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63196" y="3098721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562713" y="2838450"/>
            <a:ext cx="324064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Инновационные методы оптимизации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62713" y="3166348"/>
            <a:ext cx="7153394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Разработка гибридных алгоритмов, объединяющих адаптивные методы с механизмами второго порядка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49008" y="3575685"/>
            <a:ext cx="9000649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097" y="3598426"/>
            <a:ext cx="2565440" cy="8736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63196" y="3902035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204103" y="3749993"/>
            <a:ext cx="232910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Адаптивная регуляризация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204103" y="4077891"/>
            <a:ext cx="6444258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Методы, основанные на минимизации взаимной информации и динамических коэффициентах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90398" y="4487228"/>
            <a:ext cx="8359259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707" y="4509968"/>
            <a:ext cx="3848100" cy="8736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63196" y="4813578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5845373" y="4661535"/>
            <a:ext cx="2785467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Интерпретируемые архитектуры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845373" y="4989433"/>
            <a:ext cx="6694527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Совмещение традиционных методов с байесовским моделированием и вероятностными графами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731669" y="5398770"/>
            <a:ext cx="7717988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317" y="5421511"/>
            <a:ext cx="5130879" cy="8736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63196" y="5725120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6486763" y="5573078"/>
            <a:ext cx="262020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Автоматизированные системы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86763" y="5900976"/>
            <a:ext cx="5303877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Интеграция методов в производственные конвейеры с онлайн-мониторингом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73058" y="6310313"/>
            <a:ext cx="7076599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47" y="6333053"/>
            <a:ext cx="6413540" cy="87368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63196" y="6636663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</a:t>
            </a:r>
            <a:endParaRPr lang="en-US" sz="1650" dirty="0"/>
          </a:p>
        </p:txBody>
      </p:sp>
      <p:sp>
        <p:nvSpPr>
          <p:cNvPr id="26" name="Text 19"/>
          <p:cNvSpPr/>
          <p:nvPr/>
        </p:nvSpPr>
        <p:spPr>
          <a:xfrm>
            <a:off x="7128153" y="6484620"/>
            <a:ext cx="23281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Масштабируемые решения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128153" y="6812518"/>
            <a:ext cx="5236845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Повышение вычислительной эффективности через оптимизацию архитектур</a:t>
            </a:r>
            <a:endParaRPr lang="en-US" sz="11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2025-05-30T15:43:29Z</dcterms:created>
  <dcterms:modified xsi:type="dcterms:W3CDTF">2025-05-30T15:43:29Z</dcterms:modified>
</cp:coreProperties>
</file>