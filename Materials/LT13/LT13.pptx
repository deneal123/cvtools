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4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6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0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5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6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8860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Лекция 13. Сегментация изображений с глубоким обучением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80046"/>
            <a:ext cx="126937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Данная презентация посвящена методам сегментации изображений с использованием глубокого обучения. Мы рассмотрим основные архитектуры, функции потерь, методы обучения и практические аспекты применения этих технологий.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554081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5548432"/>
            <a:ext cx="347663" cy="347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40" y="5523905"/>
            <a:ext cx="24055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TS Compact Bold" pitchFamily="34" charset="0"/>
                <a:ea typeface="MTS Compact Bold" pitchFamily="34" charset="-122"/>
                <a:cs typeface="MTS Compact Bold" pitchFamily="34" charset="-120"/>
              </a:rPr>
              <a:t>by Иван Копылов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1897"/>
            <a:ext cx="121956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Постановка задачи и формальные определения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04304"/>
            <a:ext cx="4080034" cy="2402324"/>
          </a:xfrm>
          <a:prstGeom prst="roundRect">
            <a:avLst>
              <a:gd name="adj" fmla="val 39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238738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Семантическая сегментация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083487"/>
            <a:ext cx="361116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Каждому пикселю входного кадра I∈ℝH×W×3 сопоставляется метка из конечного множества Y={1,...,C}.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100638" y="3004304"/>
            <a:ext cx="4080034" cy="2402324"/>
          </a:xfrm>
          <a:prstGeom prst="roundRect">
            <a:avLst>
              <a:gd name="adj" fmla="val 39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5072" y="3238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Инстанс-сегментация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5072" y="3729157"/>
            <a:ext cx="361116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Выход - множество масок M={(mk,ck)}k=1N(I), где mk∈{0,1}H×W, ck∈Y.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407485" y="3004304"/>
            <a:ext cx="4080034" cy="2402324"/>
          </a:xfrm>
          <a:prstGeom prst="roundRect">
            <a:avLst>
              <a:gd name="adj" fmla="val 39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1919" y="3238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качества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41919" y="3729157"/>
            <a:ext cx="36111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mIoU = 1/C∑c=1C |Ω★c∩Ω̂c|/|Ω★c∪Ω̂c|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61779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Помимо точности важна вычислительная эффективность: количество операций F, потребление памяти M, время инференса T, число параметров P.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4" y="589359"/>
            <a:ext cx="12737425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Исторический переход от «пиксель → класс» к энд-ту-энд-обучению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0094" y="4706779"/>
            <a:ext cx="12737425" cy="30480"/>
          </a:xfrm>
          <a:prstGeom prst="roundRect">
            <a:avLst>
              <a:gd name="adj" fmla="val 29533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52148" y="4063841"/>
            <a:ext cx="30480" cy="642938"/>
          </a:xfrm>
          <a:prstGeom prst="roundRect">
            <a:avLst>
              <a:gd name="adj" fmla="val 295331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3626287" y="4465677"/>
            <a:ext cx="482203" cy="482203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6654" y="4505861"/>
            <a:ext cx="321469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527935" y="2357438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 глубоких сетей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4406" y="2820829"/>
            <a:ext cx="580608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Графовые модели: униарные потенциалы из SIFT/HoG, парные из разности цветов, минимизация энергии граф-катом.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03507" y="4706779"/>
            <a:ext cx="30480" cy="642938"/>
          </a:xfrm>
          <a:prstGeom prst="roundRect">
            <a:avLst>
              <a:gd name="adj" fmla="val 295331"/>
            </a:avLst>
          </a:prstGeom>
          <a:solidFill>
            <a:srgbClr val="E5E5E5"/>
          </a:solidFill>
          <a:ln/>
        </p:spPr>
      </p:sp>
      <p:sp>
        <p:nvSpPr>
          <p:cNvPr id="10" name="Shape 8"/>
          <p:cNvSpPr/>
          <p:nvPr/>
        </p:nvSpPr>
        <p:spPr>
          <a:xfrm>
            <a:off x="6877645" y="4465677"/>
            <a:ext cx="482203" cy="482203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8013" y="4505861"/>
            <a:ext cx="321469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523548" y="5564029"/>
            <a:ext cx="319028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Fully Convolutional Network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215646" y="6027420"/>
            <a:ext cx="580620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Long, Shelhamer и Darrell заменили полносвязные слои VGG-16 на свёртки 1×1, обучение градиентом на пиксельных метках.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354866" y="4063841"/>
            <a:ext cx="30480" cy="642938"/>
          </a:xfrm>
          <a:prstGeom prst="roundRect">
            <a:avLst>
              <a:gd name="adj" fmla="val 295331"/>
            </a:avLst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29004" y="4465677"/>
            <a:ext cx="482203" cy="482203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09371" y="4505861"/>
            <a:ext cx="321469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030533" y="2700338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U-Net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67005" y="3163729"/>
            <a:ext cx="5806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Ronneberger предложил симметричный энкодер-декодер с "мостами" между уровнями для сохранения деталей.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50094" y="7297222"/>
            <a:ext cx="127374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Конкатенация глубокой семантики и мелкой геометрии доказала эффективность от мембран нейронов до 2-D срезов КТ.</a:t>
            </a:r>
            <a:endParaRPr lang="en-US" sz="16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7386"/>
            <a:ext cx="120675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Математика свёрток с дилатацией и Atrous SPP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231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FCN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04285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Тесное поле зрения: receptive-field ядра охватывает лишь малую часть кадра.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16604" y="3223141"/>
            <a:ext cx="32034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Дилатированная свёртка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6604" y="3804285"/>
            <a:ext cx="38617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Yi,j=∑u,vKu,vXi+u,j+v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604" y="4371261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d-dilated-conv пробрасывает зазор d-1 между сэмплами, увеличивая эффективное ядро до (2d+1)2.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2231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Atrous Spatial Pyramid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3804285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Комбинирует несколько радиусов в параллельных ветвях. Каждая ветка видит сцену на своём масштабе.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919192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DeepLab-v3 перестаёт путаться в размерах объектов и прибавляет 5-6 пунктов mIoU на PASCAL VOC 2012.</a:t>
            </a:r>
            <a:endParaRPr lang="en-US" sz="1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875" y="559356"/>
            <a:ext cx="12775644" cy="1271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Encoder–decoder-архитектуры и тонкости восстановления деталей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75" y="2237303"/>
            <a:ext cx="1017032" cy="1220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33945" y="2440662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Быстрое сжатие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033945" y="2880598"/>
            <a:ext cx="1145357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Позволяет "увидеть" весь кадр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75" y="3457813"/>
            <a:ext cx="1017032" cy="1220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33945" y="3661172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Skip-связи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033945" y="4101108"/>
            <a:ext cx="1145357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Eℓ=gℓ(Eℓ-1), Dℓ=hℓ(concat(Eℓ,Up(Dℓ+1)))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75" y="4678323"/>
            <a:ext cx="1017032" cy="1220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33945" y="4881682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Декодер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2033945" y="5321617"/>
            <a:ext cx="1145357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Переносит старшие признаки обратно в пиксельное пространство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75" y="5898833"/>
            <a:ext cx="1017032" cy="1220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33945" y="6102191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Оптимизации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2033945" y="6542127"/>
            <a:ext cx="1145357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Residual U-Net, Dense U-Net, Attention U-Net, U-Net++ с сеткой связей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11875" y="7348180"/>
            <a:ext cx="1277564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U-Net++ с глубоким ветвлением уменьшает путь градиента до любого пикселя bottleneck'a, ускоряя сходимость на 30–40%.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6851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Функции потерь, согласованные с метриками IoU и Dice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480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3390543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425904"/>
            <a:ext cx="3405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кросс-энтропии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916323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дисбалансе классов превращается в "фон-регрессор": градиент редких пикселей тонет в море нулей.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282458" y="33480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28" y="3390543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19574" y="3425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Dice-Loss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019574" y="3916323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Dice(p)=2TP/(2TP+FP+FN) - одинаково штрафует ложные срабатывания и пропуски.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458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501164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536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Lovász-Softmax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6026944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Минимизирует субградиент кусочной линейной аппроксимации IoU, оптимизируя целевую метрику.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282458" y="5458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528" y="5501164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19574" y="5536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инстанс-масок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019574" y="6026944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Mask R-CNN складывает BCE и Dice-Loss: BCE для фона, Dice обнуляет "дырки" внутри экземпляров.</a:t>
            </a:r>
            <a:endParaRPr lang="en-US" sz="1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394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Mask R-CNN: добавление пиксельной головы к детектору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45575"/>
            <a:ext cx="4004429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3790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RoI Align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702969"/>
            <a:ext cx="40044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Вместо грубого квантования границ RoI Pool каждое суб-бин-значение берётся билинейной интерполяцией четырёх соседей.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138380" y="3305294"/>
            <a:ext cx="4004429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380" y="38722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Масочная ветка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38380" y="4362688"/>
            <a:ext cx="40044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Четыре 3×3-свёртки, деконволюция 2×2, слой 1×1, выдающий карту 28×28 для каждого класса.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482971" y="2965133"/>
            <a:ext cx="4004429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2971" y="3532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Многоцелевой loss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82971" y="4022527"/>
            <a:ext cx="40044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L=Lcls+Lbbox+Lmask оптимизируется совместно.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409730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Cascade R-CNN добавил цепочку боксов с порогами IoU (0.5,0.6,0.7), а Hybrid Task Cascade вписал семантическую голову для улучшения границ.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" y="562808"/>
            <a:ext cx="12772430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Компактные прототип-маски и требования реального времени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890" y="2248257"/>
            <a:ext cx="1580555" cy="117717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518" y="2803088"/>
            <a:ext cx="287298" cy="3590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02756" y="2452568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Прототип-маски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902756" y="2894290"/>
            <a:ext cx="5714524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Перевод вычислений с уровня "экземпляр" на уровень "сцена"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749522" y="3441382"/>
            <a:ext cx="8686919" cy="11430"/>
          </a:xfrm>
          <a:prstGeom prst="roundRect">
            <a:avLst>
              <a:gd name="adj" fmla="val 750765"/>
            </a:avLst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553" y="3476506"/>
            <a:ext cx="3161109" cy="1177171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99" y="3885486"/>
            <a:ext cx="287298" cy="35909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92973" y="3680817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YOLACT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5692973" y="4122539"/>
            <a:ext cx="5649635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Генерирует фиксированное множество шаблонов P∈ℝh×w×k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5539740" y="4669631"/>
            <a:ext cx="7896701" cy="11430"/>
          </a:xfrm>
          <a:prstGeom prst="roundRect">
            <a:avLst>
              <a:gd name="adj" fmla="val 750765"/>
            </a:avLst>
          </a:prstGeom>
          <a:solidFill>
            <a:srgbClr val="FFFFFF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216" y="4704755"/>
            <a:ext cx="4741664" cy="1177171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4399" y="5149572"/>
            <a:ext cx="287298" cy="28729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83191" y="4909066"/>
            <a:ext cx="255841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Линейная композиция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6483191" y="5350788"/>
            <a:ext cx="410849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m̂=σ(Pα), где α∈ℝk - вектор коэффициентов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6329958" y="5897880"/>
            <a:ext cx="7106483" cy="11430"/>
          </a:xfrm>
          <a:prstGeom prst="roundRect">
            <a:avLst>
              <a:gd name="adj" fmla="val 750765"/>
            </a:avLst>
          </a:prstGeom>
          <a:solidFill>
            <a:srgbClr val="FFFFFF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998" y="5933003"/>
            <a:ext cx="6322338" cy="1177171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4399" y="6341983"/>
            <a:ext cx="287298" cy="35909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273647" y="6137315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Производительность</a:t>
            </a:r>
            <a:endParaRPr lang="en-US" sz="2000" dirty="0"/>
          </a:p>
        </p:txBody>
      </p:sp>
      <p:sp>
        <p:nvSpPr>
          <p:cNvPr id="21" name="Text 11"/>
          <p:cNvSpPr/>
          <p:nvPr/>
        </p:nvSpPr>
        <p:spPr>
          <a:xfrm>
            <a:off x="7273647" y="6579037"/>
            <a:ext cx="296549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40 fps на RTX-2080, APmask≈29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715089" y="7339965"/>
            <a:ext cx="1277243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BlendMask, CondInst и SOLO-v2 используют learnable MLP вместо линейной комбинации, улучшая детали на 2-3 пункта AP.</a:t>
            </a:r>
            <a:endParaRPr lang="en-US" sz="1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8758"/>
            <a:ext cx="12801719" cy="122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Сегментация без рамок: dense-предсказание и «Anchor-free»-логика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4049078"/>
            <a:ext cx="7680960" cy="7680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60056" y="6580584"/>
            <a:ext cx="330637" cy="41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4049078"/>
            <a:ext cx="7680960" cy="7680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18942" y="5021699"/>
            <a:ext cx="330637" cy="41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049078"/>
            <a:ext cx="7680960" cy="76809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23384" y="5021699"/>
            <a:ext cx="330637" cy="41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4049078"/>
            <a:ext cx="7680960" cy="76809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582269" y="6580584"/>
            <a:ext cx="330637" cy="41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5"/>
          <p:cNvSpPr/>
          <p:nvPr/>
        </p:nvSpPr>
        <p:spPr>
          <a:xfrm>
            <a:off x="951071" y="3715583"/>
            <a:ext cx="244935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SOLO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85800" y="4139208"/>
            <a:ext cx="2980015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Делит вход на S×S ячеек; каждая отвечает за объекты, чьи центроиды попали внутрь.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224933" y="2155031"/>
            <a:ext cx="244935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3959662" y="2578656"/>
            <a:ext cx="2980015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Отсутствие якорей устраняет подбор размеров, отсутствие RoI Align исключает дробное квантование.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7393900" y="2155031"/>
            <a:ext cx="2659261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Dynamic Kernel Labelling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7233523" y="2578656"/>
            <a:ext cx="2980015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Вместо рисования целой маски сеть выводит набор весов, интерпретируемых как радиальная функция.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0772775" y="3402092"/>
            <a:ext cx="244935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CondInst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10507385" y="3825716"/>
            <a:ext cx="2980134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Использует динамический фильтр в декодере, свёртывающийся со слой-специфическим feature-картой.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079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Трансформерная революция: от SETR к SegFormer и Swin-UNet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1162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7579" y="3606641"/>
            <a:ext cx="21669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SETR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87579" y="4097060"/>
            <a:ext cx="216693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Изображение нарезается на чанки 16×16, проецируется в эмбеддинг d=768, 24 слоя Multi-Head Attention.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066342" y="3500318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E6E6E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005" y="351162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1794" y="3606641"/>
            <a:ext cx="21670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SegFormer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831794" y="4097060"/>
            <a:ext cx="216705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"Overlapping patch embedding", абсолютная смещение-маска, MLP-Mixing на четырёх масштабах.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339" y="3511629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76128" y="3606641"/>
            <a:ext cx="21670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Swin-UNet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076128" y="4097060"/>
            <a:ext cx="216705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Скользящее окно: attention в блоках M×M, между слоями окно сдвигается на (M/2,M/2).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673" y="3511629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320462" y="3606641"/>
            <a:ext cx="216705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Производительность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320462" y="4451390"/>
            <a:ext cx="216705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SegFormer: 84% mIoU на ADE при 60 fps (B3, &lt;15M параметров). Swin-UNet: Dice 90% на Synapse CT.</a:t>
            </a:r>
            <a:endParaRPr lang="en-US" sz="1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288"/>
            <a:ext cx="109160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CRF-RNN и проблематика границ объектов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31695"/>
            <a:ext cx="2115503" cy="1306949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997" y="2585799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6106" y="2358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границ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36106" y="2848928"/>
            <a:ext cx="58757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Нейронная сеть склонна "проглатывать" резкие переходы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22640" y="3423404"/>
            <a:ext cx="10351532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551992"/>
            <a:ext cx="4231124" cy="1306949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868" y="4006096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1728" y="3778806"/>
            <a:ext cx="3123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Conditional Random Field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51728" y="4269224"/>
            <a:ext cx="31239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Q(t+1)=softmax(-ψun-K*Q(t))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138261" y="4843701"/>
            <a:ext cx="8235910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4972288"/>
            <a:ext cx="6346865" cy="1669852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738" y="5607844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7468" y="5199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CRF-RNN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367468" y="5689521"/>
            <a:ext cx="58932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Обучаемые параметры K, μ с градиентом через mean-field шаг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897291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DeepLab-v3+ заменяет эксплицитный CRF на Atrous Separable Conv с факторизацией depthwise × pointwise.</a:t>
            </a:r>
            <a:endParaRPr lang="en-US" sz="1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8303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Процедуры обучения, аугментации и баланс классов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2948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3571994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607356"/>
            <a:ext cx="2921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Class-uniform sampling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097774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Выбирается случайный класс, затем кадр так, чтобы выбранных пикселей оказалось не меньше p.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282458" y="352948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28" y="3614499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19574" y="3607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Mosaic-аугментация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019574" y="4097774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Четыре изображения склеиваются в коллаж, повышая вероятность появления редких классов.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2772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319713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355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Poly-schedule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5845493"/>
            <a:ext cx="54680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ηt=η0(1-t/T)0.9, где T = 40-160к итераций.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282458" y="52772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528" y="5319713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19574" y="5355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Mixed-precision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019574" y="5845493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Большинство слоёв в FP16, аккумуляторы градиента в FP32. Ускорение ~1.7×.</a:t>
            </a:r>
            <a:endParaRPr lang="en-US" sz="1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7858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Самообучение, слабоконтролируемый режим и псевдо-разметка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908" y="30650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Pseudo-label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55444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Модель-учитель fθ' размечает необозначенные примеры, фиксируя пиксели с уверенностью выше qmin.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05" y="2829044"/>
            <a:ext cx="4442698" cy="44426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831" y="3566041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02165" y="32464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Consistency Training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702165" y="3736896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Lcons=1/(HW)∑p|Pθ(T1(I))p-Pθ(T2(I))p|22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5" y="2829044"/>
            <a:ext cx="4442698" cy="444269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054" y="3986451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02165" y="5456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ClassMix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02165" y="5946934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Вырезает пиксели класса из одной картинки, вставляет в другую, смешивает soft-label.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305" y="2829044"/>
            <a:ext cx="4442698" cy="444269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031" y="6110288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43908" y="5456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Результаты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46934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Consistency Training поднимает mIoU на 17 пунктов при наличии лишь 1% ручных аннотаций.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305" y="2829044"/>
            <a:ext cx="4442698" cy="4442698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8807" y="5732264"/>
            <a:ext cx="339328" cy="42422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0924"/>
            <a:ext cx="121854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Доменная адаптация и инвариантные признаки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6679"/>
            <a:ext cx="400442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378387" y="398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Домена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78893"/>
            <a:ext cx="40044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Исходный S и целевой T с разными характеристиками камер и освещения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138380" y="2956679"/>
            <a:ext cx="400442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397818" y="3988475"/>
            <a:ext cx="34855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Комбинированная функция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38380" y="4478893"/>
            <a:ext cx="40044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L=LsupS+βLadv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82971" y="2956679"/>
            <a:ext cx="400442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067568" y="398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Градиент-реверс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82971" y="4478893"/>
            <a:ext cx="40044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Меняет знак производной, заставляя энкодер стирать отличия между доменами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822752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Дополнительный трик - "output-level alignment": дискриминатор подаётся на logits сегментации, сохраняя закономерности классового распределения между городами.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869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Приватность, юридические ограничения и альтернатива полной разметке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69882"/>
            <a:ext cx="4042172" cy="2498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515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GDPR требования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41958"/>
            <a:ext cx="40421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Минимизация обработки персональных данных, включая изображения лиц.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49" y="2869882"/>
            <a:ext cx="4042291" cy="2498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9449" y="5651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Двухфазная pipeline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119449" y="6142077"/>
            <a:ext cx="4042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EyeMaskNet выделяет орбитальный регион, маска расширяется и фрагмент зашумляется.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228" y="2869882"/>
            <a:ext cx="4042291" cy="2498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45228" y="5651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Edge-анонимизация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445228" y="6142077"/>
            <a:ext cx="4042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 развёртывается на микрокомпьютере, серверу передаются только карты классов.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3852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Компрессия, квантизация и вывод на периферийных ускорителях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65038"/>
            <a:ext cx="3173373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412456"/>
            <a:ext cx="27197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Канальный pruning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902875"/>
            <a:ext cx="271974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Каналы с малым |γ| удаляются, смежные веса перезаписываются.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163" y="3165038"/>
            <a:ext cx="3173492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93977" y="4412456"/>
            <a:ext cx="27198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INT8 квантизация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93977" y="4902875"/>
            <a:ext cx="271986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Веса округляются, активации масштабируются s=(2k-1-1)/max|a|.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654" y="3165038"/>
            <a:ext cx="3173373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67468" y="4412456"/>
            <a:ext cx="271974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Структурная factorization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367468" y="5257205"/>
            <a:ext cx="271974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WINOGRAD-преобразование и разбиение 1×1-convs на block-sparse матрицы.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027" y="3165038"/>
            <a:ext cx="3173492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40841" y="4412456"/>
            <a:ext cx="27198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Результаты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540841" y="4902875"/>
            <a:ext cx="27198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Snapdragon DSP ускорение ×3 практически без потери Dice.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3281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Трёхмерная сегментация, видео-потоки и времовая когерентность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54467"/>
            <a:ext cx="4080034" cy="2773799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588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V-Net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079319"/>
            <a:ext cx="3611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Расширяет U-образную идею в 3-D: свёртки 5×5×5 и pool 2×2×2 обеспечивают поле зрения, декодер восстанавливает кубическую маску.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100638" y="3354467"/>
            <a:ext cx="4080034" cy="2773799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5072" y="3588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Video-Swin-UNet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5072" y="4079319"/>
            <a:ext cx="36111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Токены формируются как (T,H/M,W/M)-блоки; self-attention проводится сначала по пространству, затем по времени.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407485" y="3354467"/>
            <a:ext cx="4080034" cy="2773799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1919" y="3588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Keyframe inference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41919" y="4079319"/>
            <a:ext cx="36111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Полная сеть запускается каждые K кадров, на промежутках легковесный flow-warper оффсетит прошлую маску по движению.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383417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Keyframe inference экономит 80% вычислений при сохранении временной когерентности масок.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160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Паноптическая сегментация и интегральная метрика PQ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96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Panoptic-FPN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77283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Поверх пирамиды FPN параллельно обучаются семантический 1×1-head и инстанс-голова Mask R-CNN.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07161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Маски-вещи сортируются по confidence, их пиксели занимают приоритет, оставшиеся ячейки получают метку stuff.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24976" y="3396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Panoptic Quality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24976" y="3977283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PQ = ∑IoUTP/(|TP|+½(|FP|+|FN|))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4976" y="4544258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Совпадения определяются порогом IoU 0.5.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4976" y="5111234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Метрика чувствительна и к пропуску экземпляров, и к "дыркам" в маске.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455093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Hybrid-Task-Cascade семантическая голова внутри инстанс-ветки повышает PQ на 3 пункта без потери скорости.</a:t>
            </a:r>
            <a:endParaRPr lang="en-US" sz="1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87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Адверсариальная устойчивость и атаки на сегментационные сети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2734032"/>
            <a:ext cx="3033474" cy="303347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335" y="2734032"/>
            <a:ext cx="3033593" cy="303359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80" y="2734032"/>
            <a:ext cx="3033474" cy="3033474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306" y="2734032"/>
            <a:ext cx="3033593" cy="3033593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3790" y="6168747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Атака PGD выводит шум δ с ||δ||∞&lt;ε так, чтобы уменьшить mIoU. При ε=4/255 снижает U-Net с 82% до 17%. Patch Attack наклеивает QR-разметку, система принимает участок за "тротуар".</a:t>
            </a:r>
            <a:endParaRPr lang="en-US" sz="1750" dirty="0"/>
          </a:p>
        </p:txBody>
      </p:sp>
      <p:sp>
        <p:nvSpPr>
          <p:cNvPr id="8" name="Text 2"/>
          <p:cNvSpPr/>
          <p:nvPr/>
        </p:nvSpPr>
        <p:spPr>
          <a:xfrm>
            <a:off x="793790" y="7149703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Защита: Feature-Denoising Block и Dropout-attention (20% токенов) повышают робастность на 5 пунктов Dice.</a:t>
            </a:r>
            <a:endParaRPr lang="en-US" sz="17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121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Формальные свойства функций потерь и анализ их градиентных потоков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2403"/>
            <a:ext cx="12693729" cy="3054906"/>
          </a:xfrm>
          <a:prstGeom prst="roundRect">
            <a:avLst>
              <a:gd name="adj" fmla="val 31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40023"/>
            <a:ext cx="12678489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183731"/>
            <a:ext cx="58818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Кросс-энтропия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371278" y="3183731"/>
            <a:ext cx="58818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Локальная динамика: градиент (P̂p(c)-Yp(c))xp стремится к нулю при P̂p(c)→0 или 1.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4053245"/>
            <a:ext cx="12678489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4196953"/>
            <a:ext cx="58818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Dice-Loss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371278" y="4196953"/>
            <a:ext cx="58818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Глобальный градиент: ∂LDice/∂P̂p ∝ ((FN+FP)Yp-2TP)/(TP+0.5(FP+FN))2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5066467"/>
            <a:ext cx="12678489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5210175"/>
            <a:ext cx="58818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Lovász-Softmax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371278" y="5210175"/>
            <a:ext cx="58818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Минимизирует субградиент суррогата IoU, поощряя "правильных" двигаться вверх списка, а "ложных" - вниз.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342459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Dice-Loss создаёт "коллективный" дилежанс: ошибки редких классов влияют на общий знаменатель, их градиент остаётся значимым до полного исправления.</a:t>
            </a:r>
            <a:endParaRPr lang="en-US" sz="17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084" y="378738"/>
            <a:ext cx="1173861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Эффективность, энергетический бюджет и дифференцируемый нейропоиск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084" y="1084778"/>
            <a:ext cx="13005435" cy="72829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2084" y="8522613"/>
            <a:ext cx="13005435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Дифференцируемый NAS: супер-граф с операторами и вероятностями πe. Смешанный лосс Ltotal=Lseg+λFLOPs∑eπecoste+λRAM∑eπememe.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82084" y="8897898"/>
            <a:ext cx="13005435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 двигает веса и вероятности. Дискретизация архитектуры: на каждом уровне оставляем оператор с наивысшей ожидаемой пользой.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804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Валидирующие датасеты, статистические ловушки и доверительные интервалы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92579"/>
            <a:ext cx="400442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1449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378387" y="4524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Pascal VOC-2012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14793"/>
            <a:ext cx="40044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Стандартная ошибка mIoU порядка ±1.3 пункта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138380" y="3492579"/>
            <a:ext cx="400442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5000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722977" y="4524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COCO-val-2017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38380" y="5014793"/>
            <a:ext cx="40044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Стандартная ошибка mIoU порядка ±0.6 пункта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82971" y="3492579"/>
            <a:ext cx="400442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±13%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9600009" y="4524375"/>
            <a:ext cx="37702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Интервал для редких классов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82971" y="5014793"/>
            <a:ext cx="40044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95% доверительный интервал для recall при 60 примерах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995749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медицинских наборов (BraTS, KiTS) проблема усугубляется разной толщиной среза. Необходима кросс-валидация leave-one-patient-out.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4343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Производственный конвейер: обучение-в-облаке и мониторинг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306253"/>
            <a:ext cx="2918222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3790" y="4873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Data-lake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363647"/>
            <a:ext cx="291822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Сырые кадры складываются, метаданные (дата, погода, позиция камеры) индексируются.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52173" y="3965972"/>
            <a:ext cx="2918341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2173" y="4532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Обучение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52173" y="5023366"/>
            <a:ext cx="29183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Jenkins/GitHub-Action триггерит обучение при появлении N=10 000 новых кадров.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310676" y="3625691"/>
            <a:ext cx="2918341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0676" y="4192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Деплой и мониторинг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0676" y="4683085"/>
            <a:ext cx="291834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Счётчик fps-inference, память и температура чипа собираются агентом Telegraf, отправляются в InfluxDB.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569178" y="3285530"/>
            <a:ext cx="2918341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69178" y="38525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Обратная связь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69178" y="4342924"/>
            <a:ext cx="29183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Кадры с высоким latency маркируются как "high-entropy" и первыми идут в очередь разметчиков.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7938"/>
            <a:ext cx="119348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Этические и социальные аспекты сегментации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9999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7579" y="2895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ISO 21448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87579" y="3385423"/>
            <a:ext cx="118999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Обязательное отчуждение residual risk: при падении mIoU ниже 75% алгоритм переходит в de-rated режим.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24160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87579" y="4336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DICOM-SR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87579" y="4827032"/>
            <a:ext cx="118999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Каждая автоматическая маска сопровождается атрибутом "probability map" для проверки сомнительных зон.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683210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87579" y="5778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Право собственности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87579" y="6268641"/>
            <a:ext cx="118999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Европе структура пикселей может считаться личной информацией, если возможна реидентификация.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9730"/>
            <a:ext cx="11425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Тенденции ближайшего цикла исследований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21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2890004"/>
            <a:ext cx="52903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Диффузионное обратное моделирование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380423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 gθ учится предсказывать pθ(zt-1|zt), восстанавливая маску из шума.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282458" y="28121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7528" y="2854643"/>
            <a:ext cx="340162" cy="4252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19574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NeRF-супервизия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19574" y="3380423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Трёхмерная плотность сцены σ(x) даёт непрерывную поверхность. Проецируя точки, получаем синтетические маски.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4965263"/>
            <a:ext cx="340162" cy="4252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0906" y="5000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Foundation-подход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530906" y="5491043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Segment Anything Model с learnable-token "prompt". Любая комбинация "точка/рамка/текст" порождает валидную маску.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282458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528" y="4965263"/>
            <a:ext cx="340162" cy="4252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19574" y="5000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Унификация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019574" y="5491043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Seamless Segment Everything (SEEM) оперирует 3-D voxel-grid, совместно сегментируя RGB и LiDAR.</a:t>
            </a:r>
            <a:endParaRPr lang="en-US" sz="1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3599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Итоговое формальное многоуровневое представление задачи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58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потерь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39277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L(θ)=E(I,Y★)[ℓsup(Y★,fθ(I))+λunsupℓcons(I;θ)+λadvℓdom(I;θ,φ)]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16604" y="3158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Процесс вывода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6604" y="3739277"/>
            <a:ext cx="38617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Ŷ=Post(fθ(I))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604" y="4306253"/>
            <a:ext cx="38617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argmax (семантика)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604" y="4748451"/>
            <a:ext cx="38617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NMS∘threshold (инстансы)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16604" y="5190649"/>
            <a:ext cx="38617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Soft-CRF (границы high-res)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16604" y="5632847"/>
            <a:ext cx="38617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Prompt-guided mask (foundation)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39419" y="3158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риска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39419" y="3739277"/>
            <a:ext cx="38617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R=∫Φ(Ŷ,Y★,κ)dμ(I)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39419" y="4306253"/>
            <a:ext cx="38617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Φ - функция стоимости ошибок, κ - профиль приложения.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330196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Трёхслойный формализм: внутренний градиент отвечает за обучение, средний слой - за преобразование логитов в маски, внешний - за бизнес-метрику и эксплуатационные ограничения.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2025-05-30T15:42:09Z</dcterms:created>
  <dcterms:modified xsi:type="dcterms:W3CDTF">2025-05-30T15:42:09Z</dcterms:modified>
</cp:coreProperties>
</file>