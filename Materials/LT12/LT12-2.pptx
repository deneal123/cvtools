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4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8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9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2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23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25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28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29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33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slideLayout" Target="../slideLayouts/slideLayout34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35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6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84083"/>
            <a:ext cx="72073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Лекция 12: Обнаружение объектов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41802"/>
            <a:ext cx="72073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Добро пожаловать на лекцию по обнаружению объектов в компьютерном зрении. Мы рассмотрим формальные определения, эволюцию архитектур, современные подходы и практические аспекты.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66547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673090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648563"/>
            <a:ext cx="240553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TS Compact Bold" pitchFamily="34" charset="0"/>
                <a:ea typeface="MTS Compact Bold" pitchFamily="34" charset="-122"/>
                <a:cs typeface="MTS Compact Bold" pitchFamily="34" charset="-120"/>
              </a:rPr>
              <a:t>by Иван Копылов</a:t>
            </a:r>
            <a:endParaRPr lang="en-US" sz="2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619125"/>
            <a:ext cx="12083058" cy="702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Постановка задачи и формальные определения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6527" y="1770697"/>
            <a:ext cx="4008953" cy="74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1207532" y="2793087"/>
            <a:ext cx="3166824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Измерения изображения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527" y="3279100"/>
            <a:ext cx="4008953" cy="179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Изображение задаётся тензором I ∈ ℝH×W×3, где H и W — пространственные размеры, а последнее измерение соответствует RGB.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132546" y="1770697"/>
            <a:ext cx="4008953" cy="74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732383" y="2793087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Координаты рамки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32546" y="3279100"/>
            <a:ext cx="4008953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Каждая ограничивающая рамка описывается вектором bi=(xmin,ymin,xmax,ymax).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78566" y="1770697"/>
            <a:ext cx="4008953" cy="74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0078403" y="2793087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Классов объектов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478566" y="3279100"/>
            <a:ext cx="4008953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Вероятностное распределение по C классам pi=(pi(1),...,pi(C)), где сумма вероятностей равна 1.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86527" y="5329714"/>
            <a:ext cx="12700992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Ключевой геометрический критерий качества — коэффициент пересечения-по-объединению: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86527" y="5942052"/>
            <a:ext cx="12700992" cy="696516"/>
          </a:xfrm>
          <a:prstGeom prst="roundRect">
            <a:avLst>
              <a:gd name="adj" fmla="val 13552"/>
            </a:avLst>
          </a:prstGeom>
          <a:solidFill>
            <a:srgbClr val="FFCCD5"/>
          </a:solidFill>
          <a:ln/>
        </p:spPr>
      </p:sp>
      <p:sp>
        <p:nvSpPr>
          <p:cNvPr id="14" name="Shape 12"/>
          <p:cNvSpPr/>
          <p:nvPr/>
        </p:nvSpPr>
        <p:spPr>
          <a:xfrm>
            <a:off x="775335" y="5942052"/>
            <a:ext cx="12723376" cy="696516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15" name="Text 13"/>
          <p:cNvSpPr/>
          <p:nvPr/>
        </p:nvSpPr>
        <p:spPr>
          <a:xfrm>
            <a:off x="1000006" y="6110526"/>
            <a:ext cx="1227403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IoU(b,b̂) = |b ∩ b̂| / |b ∪ b̂|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86527" y="6891337"/>
            <a:ext cx="12700992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сравнения моделей используют метрики AP (Average Precision) и mAP0.5:0.95, усреднённую по десяти порогам IoU от 0.50 до 0.95.</a:t>
            </a:r>
            <a:endParaRPr lang="en-US" sz="17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79" y="759738"/>
            <a:ext cx="12738140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Историческая мотивация и переход к генерации регионов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49379" y="2526268"/>
            <a:ext cx="2123003" cy="1576507"/>
          </a:xfrm>
          <a:prstGeom prst="roundRect">
            <a:avLst>
              <a:gd name="adj" fmla="val 5705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327" y="3126343"/>
            <a:ext cx="301109" cy="3763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86457" y="2740343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Скользящее окно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086457" y="3203377"/>
            <a:ext cx="1018698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Первая наивная парадигма локализации состояла в плотном сканировании изображения фиксированным окном.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2979420" y="4087535"/>
            <a:ext cx="10401062" cy="15240"/>
          </a:xfrm>
          <a:prstGeom prst="roundRect">
            <a:avLst>
              <a:gd name="adj" fmla="val 590145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749379" y="4209812"/>
            <a:ext cx="4246007" cy="1576507"/>
          </a:xfrm>
          <a:prstGeom prst="roundRect">
            <a:avLst>
              <a:gd name="adj" fmla="val 5705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769" y="4809887"/>
            <a:ext cx="301109" cy="3763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09461" y="4423886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Region Proposal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209461" y="4886920"/>
            <a:ext cx="8063984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Алгоритмы Selective Search, EdgeBoxes и BING научились за миллисекунды выдавать "разумные" прямоугольники.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5102423" y="5771078"/>
            <a:ext cx="8278058" cy="15240"/>
          </a:xfrm>
          <a:prstGeom prst="roundRect">
            <a:avLst>
              <a:gd name="adj" fmla="val 590145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749379" y="5893356"/>
            <a:ext cx="6369010" cy="1576507"/>
          </a:xfrm>
          <a:prstGeom prst="roundRect">
            <a:avLst>
              <a:gd name="adj" fmla="val 5705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330" y="6493431"/>
            <a:ext cx="301109" cy="3763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32464" y="6107430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RPN-warm-up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7332464" y="6570464"/>
            <a:ext cx="5940981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современных системах классические CPU-процедуры заменяет короткий RPN-warm-up или GPU-ядро Edge-NMS.</a:t>
            </a:r>
            <a:endParaRPr lang="en-US" sz="16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1177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Появление семейства R-CNN и поэтапное усложнение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048941" y="2598896"/>
            <a:ext cx="30480" cy="4789527"/>
          </a:xfrm>
          <a:prstGeom prst="roundRect">
            <a:avLst>
              <a:gd name="adj" fmla="val 31255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3612" y="283880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5988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2641402"/>
            <a:ext cx="340162" cy="4252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83011" y="2676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R-CNN (2014)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83011" y="3167182"/>
            <a:ext cx="113045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Соединял CPU-Selective Search, предобученный AlexNet и набор независимых SVM. Показал mAP ≈ 66% на VOC-2007, но имел проблемы с обучением и скоростью.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273612" y="4586526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10" name="Shape 7"/>
          <p:cNvSpPr/>
          <p:nvPr/>
        </p:nvSpPr>
        <p:spPr>
          <a:xfrm>
            <a:off x="793790" y="43466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0" y="4389120"/>
            <a:ext cx="340162" cy="4252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83011" y="4424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Fast R-CNN (2015)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183011" y="4914900"/>
            <a:ext cx="113045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Изображение проходит backbone (VGG-16) один раз. ROI Pooling проецирует каждый пропозал на решётку признаков. Время обработки кадра падает до ~0.3 с.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1273612" y="633424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3790" y="60943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6136838"/>
            <a:ext cx="340162" cy="4252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83011" y="6172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Faster R-CNN (2015)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2183011" y="6662618"/>
            <a:ext cx="113045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Встроил Region Proposal Network. Якорь позитивен при IoU &gt; 0.7, негативен при &lt; 0.3. На Tesla K40 кадр обрабатывается за 0.1 с, mAP ≈ 73%.</a:t>
            </a:r>
            <a:endParaRPr lang="en-US" sz="17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542"/>
            <a:ext cx="112278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Anchors, регрессия рамок и функции потерь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4297"/>
            <a:ext cx="46393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Дискретизация пространства рамок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75441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Якорь a=(xa,ya,wa,ha) приближает область возможных рамок; регрессор учится сдвигать его к точной позиции: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556397"/>
            <a:ext cx="6070163" cy="1791652"/>
          </a:xfrm>
          <a:prstGeom prst="roundRect">
            <a:avLst>
              <a:gd name="adj" fmla="val 5317"/>
            </a:avLst>
          </a:prstGeom>
          <a:solidFill>
            <a:srgbClr val="FFCCD5"/>
          </a:solidFill>
          <a:ln/>
        </p:spPr>
      </p:sp>
      <p:sp>
        <p:nvSpPr>
          <p:cNvPr id="6" name="Shape 4"/>
          <p:cNvSpPr/>
          <p:nvPr/>
        </p:nvSpPr>
        <p:spPr>
          <a:xfrm>
            <a:off x="782479" y="3556397"/>
            <a:ext cx="6092785" cy="1791652"/>
          </a:xfrm>
          <a:prstGeom prst="roundRect">
            <a:avLst>
              <a:gd name="adj" fmla="val 1899"/>
            </a:avLst>
          </a:prstGeom>
          <a:solidFill>
            <a:srgbClr val="FFCCD5"/>
          </a:solidFill>
          <a:ln/>
        </p:spPr>
      </p:sp>
      <p:sp>
        <p:nvSpPr>
          <p:cNvPr id="7" name="Text 5"/>
          <p:cNvSpPr/>
          <p:nvPr/>
        </p:nvSpPr>
        <p:spPr>
          <a:xfrm>
            <a:off x="1009293" y="3726418"/>
            <a:ext cx="563915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tx=(x*-xa)/wa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ty=(y*-ya)/ha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tw=ln(w*/wa)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th=ln(h*/ha)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4976" y="1994297"/>
            <a:ext cx="33679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Smooth-L1 функция потерь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24976" y="2603778"/>
            <a:ext cx="6070163" cy="1791652"/>
          </a:xfrm>
          <a:prstGeom prst="roundRect">
            <a:avLst>
              <a:gd name="adj" fmla="val 5317"/>
            </a:avLst>
          </a:prstGeom>
          <a:solidFill>
            <a:srgbClr val="FFCCD5"/>
          </a:solidFill>
          <a:ln/>
        </p:spPr>
      </p:sp>
      <p:sp>
        <p:nvSpPr>
          <p:cNvPr id="10" name="Shape 8"/>
          <p:cNvSpPr/>
          <p:nvPr/>
        </p:nvSpPr>
        <p:spPr>
          <a:xfrm>
            <a:off x="7413665" y="2603778"/>
            <a:ext cx="6092785" cy="1791652"/>
          </a:xfrm>
          <a:prstGeom prst="roundRect">
            <a:avLst>
              <a:gd name="adj" fmla="val 1899"/>
            </a:avLst>
          </a:prstGeom>
          <a:solidFill>
            <a:srgbClr val="FFCCD5"/>
          </a:solidFill>
          <a:ln/>
        </p:spPr>
      </p:sp>
      <p:sp>
        <p:nvSpPr>
          <p:cNvPr id="11" name="Text 9"/>
          <p:cNvSpPr/>
          <p:nvPr/>
        </p:nvSpPr>
        <p:spPr>
          <a:xfrm>
            <a:off x="7640479" y="2773799"/>
            <a:ext cx="563915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smoothL1(x) = {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0.5x², |x|&lt;1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|x|-0.5, иначе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24976" y="46505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CIoU-v3 (YOLO v9)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24976" y="5260062"/>
            <a:ext cx="6070163" cy="702945"/>
          </a:xfrm>
          <a:prstGeom prst="roundRect">
            <a:avLst>
              <a:gd name="adj" fmla="val 13553"/>
            </a:avLst>
          </a:prstGeom>
          <a:solidFill>
            <a:srgbClr val="FFCCD5"/>
          </a:solidFill>
          <a:ln/>
        </p:spPr>
      </p:sp>
      <p:sp>
        <p:nvSpPr>
          <p:cNvPr id="14" name="Shape 12"/>
          <p:cNvSpPr/>
          <p:nvPr/>
        </p:nvSpPr>
        <p:spPr>
          <a:xfrm>
            <a:off x="7413665" y="5260062"/>
            <a:ext cx="6092785" cy="70294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15" name="Text 13"/>
          <p:cNvSpPr/>
          <p:nvPr/>
        </p:nvSpPr>
        <p:spPr>
          <a:xfrm>
            <a:off x="7640479" y="5430083"/>
            <a:ext cx="5639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 = 1-IoU + ρ²/c² + αv + βcosθ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4976" y="6218158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где ρ — расстояние центров, c — диагональ минимального охватывающего прямоугольника, v — различие аспект-отношений, θ — угол между диагоналями.</a:t>
            </a:r>
            <a:endParaRPr lang="en-US" sz="17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65" y="730210"/>
            <a:ext cx="12741354" cy="133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Одношаговые методы и переход к плотному предсказанию</a:t>
            </a:r>
            <a:endParaRPr lang="en-US" sz="4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65" y="2382560"/>
            <a:ext cx="1065967" cy="1279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31933" y="2595682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SSD (2016)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2131933" y="3056573"/>
            <a:ext cx="11355586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Backbone (VGG-16) расширяют слоями, понижая разрешение. На каждом уровне размещается свой набор якорей.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65" y="3661767"/>
            <a:ext cx="1065967" cy="12792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31933" y="3874889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v1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2131933" y="4335780"/>
            <a:ext cx="11355586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Вход 448×448 делится на сетку 7×7; каждая ячейка предсказывает 2 бокса и общий вектор классов.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65" y="4940975"/>
            <a:ext cx="1065967" cy="12792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31933" y="5154097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v2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2131933" y="5614988"/>
            <a:ext cx="11355586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Переход на anchors, BatchNorm, многомасштабное обучение, Random Perspective.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65" y="6220182"/>
            <a:ext cx="1065967" cy="12792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31933" y="6433304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v3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2131933" y="6894195"/>
            <a:ext cx="11355586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Feature Pyramid Network с тремя уровнями, бинарные сигмоиды вместо softmax.</a:t>
            </a:r>
            <a:endParaRPr lang="en-US" sz="1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4609"/>
            <a:ext cx="116740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Полная эволюция YOLO (v4 → v9) и YOLO-NAS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048941" y="1733550"/>
            <a:ext cx="30480" cy="5811441"/>
          </a:xfrm>
          <a:prstGeom prst="roundRect">
            <a:avLst>
              <a:gd name="adj" fmla="val 31255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3612" y="197346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17335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1776055"/>
            <a:ext cx="340162" cy="4252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83011" y="1811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v4 (2020)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83011" y="2301835"/>
            <a:ext cx="113045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Backbone — CSPDarknet-53, neck — PANet, активация — Mish/SiLU. Bag-of-freebies: Mosaic, MixUp, DropBlock, label-smoothing.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273612" y="372117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10" name="Shape 7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0" y="3523774"/>
            <a:ext cx="340162" cy="4252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83011" y="3559135"/>
            <a:ext cx="34182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v5 → v8 (2020-2023)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183011" y="4049554"/>
            <a:ext cx="113045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Open-source, auto-anchor, auto-LR-scale, экспорт в ONNX/TensorRT, E-ELAN-neck, decoupled-head, dynamic conv.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1273612" y="5468898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3790" y="5228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5271492"/>
            <a:ext cx="340162" cy="4252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83011" y="5306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YOLO-NAS (2023)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2183011" y="5797272"/>
            <a:ext cx="113045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NAS-поиск под latency. Супер-сеть включает альтернативы 3×3/5×5/7×7 depth-wise и эластичную глубину.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1273612" y="685371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20" name="Shape 15"/>
          <p:cNvSpPr/>
          <p:nvPr/>
        </p:nvSpPr>
        <p:spPr>
          <a:xfrm>
            <a:off x="793790" y="661380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6656308"/>
            <a:ext cx="340162" cy="4252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83011" y="66916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v9 (2024)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2183011" y="7182088"/>
            <a:ext cx="113045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Backbone — Generalized ELAN-v2, Neck — GEM, RT-NMS, CIoU-v3 с динамическими весами.</a:t>
            </a:r>
            <a:endParaRPr lang="en-US" sz="17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0424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Anchor-free-подходы: мотивация отказа от anchor-боксов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4814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482578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гиперпараметров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327327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Набор размеров и аспект-отношений выбирают вручную. Если распределение объектов на продакшн-потоке отличается от тренировочного, положительных якорей может не найтись.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100638" y="324814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5072" y="3482578"/>
            <a:ext cx="29562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Градиент "из ниоткуда"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5072" y="3972997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Регрессор обучается только на anchor-рамках с IoU &gt; 0.3. Якоря, центр которых далёк от GT, не дают градиент, поэтому сеть почти не узнаёт о далёких отрицательных примерах.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407485" y="324814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41919" y="3482578"/>
            <a:ext cx="34081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Преимущество anchor-free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41919" y="3972997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Anchor-free-семейство упраздняет фиксированные шаблоны: каждая точка карты признаков сама играет роль "потенциального объекта" и непосредственно регрессирует геометрию.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5587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FCOS — Fully Convolutional One-Stage Detector (2019)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908" y="2756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Основная идея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47192"/>
            <a:ext cx="37853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каждой ячейки карты признаков сеть выводит вектор дистанций до границ ближайшего GT-бокса, вектор классовых логитов и скаляр "центральности".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831" y="3565922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02165" y="2756773"/>
            <a:ext cx="33480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Формирование позитивов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702165" y="3247192"/>
            <a:ext cx="37853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каждой GT-рамки строят вложенный "inner-box". Пиксели внутри становятся кандидатами. Если пиксель попадает в несколько рамок, выбирают ближайшую.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054" y="3943945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02165" y="55833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Функция ошибки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02165" y="6073735"/>
            <a:ext cx="37853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Суммируются три слагаемых: focal loss для классификации, IoU-loss для регрессии и BCE для центральности.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031" y="6110168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743908" y="54018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Плюсы и минусы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92284"/>
            <a:ext cx="378535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Плюс — почти нет гиперпараметров. Минус — в плотных сценах центральные точки разных GT могут конкурировать.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8807" y="5732145"/>
            <a:ext cx="339328" cy="424220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35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CenterNet (2019)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79308"/>
            <a:ext cx="47985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Представление объекта одной точкой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60452"/>
            <a:ext cx="60701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самой низкой пирамидальной карте сеть учится генерировать heat-map центров. Для каждого класса c значение Ycuv∈[0,1] — вероятность того, что пиксель (u,v) является центром объекта c.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388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Генерация таргета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920020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GT-рамки вычисляют центр (xc,yc). На heat-map рисуют 2D-гауссиану: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900976"/>
            <a:ext cx="6070163" cy="702945"/>
          </a:xfrm>
          <a:prstGeom prst="roundRect">
            <a:avLst>
              <a:gd name="adj" fmla="val 13553"/>
            </a:avLst>
          </a:prstGeom>
          <a:solidFill>
            <a:srgbClr val="FFCCD5"/>
          </a:solidFill>
          <a:ln/>
        </p:spPr>
      </p:sp>
      <p:sp>
        <p:nvSpPr>
          <p:cNvPr id="8" name="Shape 6"/>
          <p:cNvSpPr/>
          <p:nvPr/>
        </p:nvSpPr>
        <p:spPr>
          <a:xfrm>
            <a:off x="782479" y="5900976"/>
            <a:ext cx="6092785" cy="70294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9" name="Text 7"/>
          <p:cNvSpPr/>
          <p:nvPr/>
        </p:nvSpPr>
        <p:spPr>
          <a:xfrm>
            <a:off x="1009293" y="6070997"/>
            <a:ext cx="5639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Ycuv = exp(-(u-xc)²+(v-yc)²)/(2σ²)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859072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где σ пропорциональна площади рамки.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24976" y="2079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Головы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24976" y="2660452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Heat-map-голова — трёхслойный 3×3 conv-MLP, активация sigmoid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424976" y="3465552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Size-голова — регрессирует log w, log h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424976" y="3907750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Offset-голова — суб-пиксельное смещение центра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4976" y="4497467"/>
            <a:ext cx="33291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Пост-процессинг без NMS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24976" y="5078611"/>
            <a:ext cx="60701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 heat-map берут локальные максимумы, сортируют по score, восстанавливают w,h и offset. Поскольку карта разрежена, NMS не нужен: каждый пиксель может порождать лишь один объект.</a:t>
            </a:r>
            <a:endParaRPr lang="en-US" sz="17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8983"/>
            <a:ext cx="60536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CornerNet (2018) и ATSS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4738"/>
            <a:ext cx="42564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Угловое кодирование в CornerNet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45882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Каждый объект описывается парой точек: левый-верхний и правый-нижний угол. Сеть предсказывает две heat-maps (top-left / bottom-right).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38663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связывания углов вводится embedding pull-push loss: углы одного объекта тянутся друг к другу, углы разных — отталкиваются.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831443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Проблема: требуется точно согласовать два дальних пика → градиенты нестабильны.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4976" y="2664738"/>
            <a:ext cx="40584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ATSS — компромиссный подход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24976" y="3245882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Adaptive Training Sample Selection усиливает anchor-based детекторы динамическим подбором позитивных якорей: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24976" y="4175760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каждой GT выбирают K ближайших anchor-центров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424976" y="4617958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Вычисляют порог τ как среднее IoU выбранной пятёрки ± σ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24976" y="5547836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Такой метод наследует преимущества обоих миров: anchor-инференс остаётся дешёвым, а поисковая сетка автоматически адаптируется.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8888"/>
            <a:ext cx="124610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Сравнительные выводы по anchor-free подходам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782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2670334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705695"/>
            <a:ext cx="34050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 anchor-free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196114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Снижают variance на мелких объектах, избавляют от ручной настройки якорей.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282458" y="262782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528" y="2670334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19574" y="2705695"/>
            <a:ext cx="29734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Недостатки anchor-free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019574" y="3196114"/>
            <a:ext cx="54680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Чувствительны к плотному перекрытию экземпляров.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3755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4418052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4453414"/>
            <a:ext cx="3686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 anchor-based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30906" y="4943832"/>
            <a:ext cx="54680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Легко обучаются в сценах с перекрытиями.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282458" y="43755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528" y="4418052"/>
            <a:ext cx="340162" cy="4252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19574" y="4453414"/>
            <a:ext cx="32545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Недостатки anchor-based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019574" y="4943832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Требуют подбора аспект-отношений и страдают при редких пропорциях.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93790" y="5924788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практике 2025 года часто применяют гибридные схемы (ATSS, Cascade-YOLO), где этап подбора позитивов уже anchor-free, а окончательный head — anchor-based.</a:t>
            </a:r>
            <a:endParaRPr lang="en-US" sz="1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4628"/>
            <a:ext cx="118469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DETR-семейство и ускоренные трансформеры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1707" y="1997035"/>
            <a:ext cx="1570792" cy="13069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500" y="2613065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79313" y="2223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DETR (2020)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979313" y="2714268"/>
            <a:ext cx="55033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Переломный подход с трансформерной архитектурой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4809173" y="3317081"/>
            <a:ext cx="8621673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371" y="3360658"/>
            <a:ext cx="3141583" cy="13069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619" y="3814762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764768" y="3587472"/>
            <a:ext cx="28595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Архитектурный скелет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764768" y="4077891"/>
            <a:ext cx="62006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CNN-энкодер + трансформерный декодер с learnable queries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5594628" y="4680704"/>
            <a:ext cx="7836218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916" y="4724281"/>
            <a:ext cx="4712494" cy="13069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7619" y="5178385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550223" y="49510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Hungarian loss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550223" y="5441513"/>
            <a:ext cx="58987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Оптимальное сопоставление предсказаний и ground truth</a:t>
            </a:r>
            <a:endParaRPr lang="en-US" sz="1750" dirty="0"/>
          </a:p>
        </p:txBody>
      </p:sp>
      <p:sp>
        <p:nvSpPr>
          <p:cNvPr id="17" name="Shape 9"/>
          <p:cNvSpPr/>
          <p:nvPr/>
        </p:nvSpPr>
        <p:spPr>
          <a:xfrm>
            <a:off x="6380083" y="6044327"/>
            <a:ext cx="7050762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60" y="6087904"/>
            <a:ext cx="6283285" cy="1306949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7500" y="6542008"/>
            <a:ext cx="318968" cy="3986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335560" y="6314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Слабое место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7335560" y="6805136"/>
            <a:ext cx="455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Медленная сходимость — 500 эпох на COCO</a:t>
            </a:r>
            <a:endParaRPr lang="en-US" sz="17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884" y="608171"/>
            <a:ext cx="4538067" cy="53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Deformable DETR (2021)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598884" y="1570673"/>
            <a:ext cx="322790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Разреженное multi-scale attention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98884" y="2009180"/>
            <a:ext cx="6235541" cy="54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Каждый query ищет лишь M = 4–8 ключей на каждом уровне пирамиды (stride 4, 8, 16, 32). Внимание: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8884" y="2749153"/>
            <a:ext cx="6235541" cy="530423"/>
          </a:xfrm>
          <a:prstGeom prst="roundRect">
            <a:avLst>
              <a:gd name="adj" fmla="val 13551"/>
            </a:avLst>
          </a:prstGeom>
          <a:solidFill>
            <a:srgbClr val="FFCCD5"/>
          </a:solidFill>
          <a:ln/>
        </p:spPr>
      </p:sp>
      <p:sp>
        <p:nvSpPr>
          <p:cNvPr id="6" name="Shape 4"/>
          <p:cNvSpPr/>
          <p:nvPr/>
        </p:nvSpPr>
        <p:spPr>
          <a:xfrm>
            <a:off x="590431" y="2749153"/>
            <a:ext cx="6252448" cy="530423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7" name="Text 5"/>
          <p:cNvSpPr/>
          <p:nvPr/>
        </p:nvSpPr>
        <p:spPr>
          <a:xfrm>
            <a:off x="761524" y="2877503"/>
            <a:ext cx="5910262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Attn(q) = Σm=1M Am · (WvFl(offsetm(q)))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884" y="3472101"/>
            <a:ext cx="6235541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где offset'ы и веса Am — learnable.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59479" y="1553528"/>
            <a:ext cx="6235541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884" y="4177784"/>
            <a:ext cx="631590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≤50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687241" y="4956334"/>
            <a:ext cx="213919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Эпох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98884" y="5326380"/>
            <a:ext cx="6315908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Значительное ускорение конвергенции по сравнению с оригинальным DETR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1492" y="4177784"/>
            <a:ext cx="631602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0.9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259848" y="4956334"/>
            <a:ext cx="213919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ГБ памяти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171492" y="5326380"/>
            <a:ext cx="6316028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Против 3 ГБ у оригинального DETR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884" y="6198989"/>
            <a:ext cx="631590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687241" y="6977539"/>
            <a:ext cx="213919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AP (R50)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8884" y="7347585"/>
            <a:ext cx="6315908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Высокая точность при использовании ResNet-50 в качестве backbone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1492" y="6198989"/>
            <a:ext cx="631602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259848" y="6977539"/>
            <a:ext cx="213919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FPS (V100)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171492" y="7347585"/>
            <a:ext cx="6316028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Приемлемая скорость инференса на GPU NVIDIA V100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1041"/>
            <a:ext cx="99827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DN-DETR / Stable Matching (ICCV-2023)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09982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03973" y="2709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Денойз-таргеты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03973" y="3200400"/>
            <a:ext cx="121835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батч добавляются "денойз-targets" — GT-боксы + рандомные смещения.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133951" y="3790117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4134" y="3790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Устранение шума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4134" y="4280535"/>
            <a:ext cx="118433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Queries учатся "устранять шум", создавая сильный ранний сигнал.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474232" y="4870252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415" y="48702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Stable Matching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84415" y="5360670"/>
            <a:ext cx="115031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Вводит soft-assignment-матрицу → перестановка σ плавно меняется, исчезает градиент-скачок.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205538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Сходимость ускоряется в 3 раза при сохранении точности AP.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42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RT-DETR (2023)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99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81137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CNN-энкодер RepVGG-A0, neck — 4-scale FPN. Затем 12-слойный декодер, где cross-attention исполняется блоками 8×8, объединяя патчи.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73918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Главное: обучают схему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one-to-many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(денойз) →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one-to-one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(inference).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4976" y="2828330"/>
            <a:ext cx="6070163" cy="2692003"/>
          </a:xfrm>
          <a:prstGeom prst="roundRect">
            <a:avLst>
              <a:gd name="adj" fmla="val 353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32596" y="2835950"/>
            <a:ext cx="6054923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59767" y="2979658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Модель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177218" y="2979658"/>
            <a:ext cx="1052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Энкодер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690860" y="2979658"/>
            <a:ext cx="1052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FPS (T4)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2204502" y="2979658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AP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32596" y="3486269"/>
            <a:ext cx="6054923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659767" y="3629978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R18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177218" y="3629978"/>
            <a:ext cx="1052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RepVGG-A0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690860" y="3629978"/>
            <a:ext cx="1052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52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2204502" y="3629978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32596" y="4499491"/>
            <a:ext cx="6054923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659767" y="4643199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R50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177218" y="4643199"/>
            <a:ext cx="1052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ResNet-50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690860" y="4643199"/>
            <a:ext cx="1052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37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2204502" y="4643199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49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424976" y="5775484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Первый детектор-трансформер, сравнимый по fps с YOLO v7-medium.</a:t>
            </a:r>
            <a:endParaRPr lang="en-US" sz="17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846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H-DETR (2024)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3354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3676055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711416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Смешанное сопоставление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556165"/>
            <a:ext cx="33051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K = 3 лучших предсказания к каждой GT + Hungarian для остальных.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19568" y="363354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639" y="3676055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6684" y="37114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Teacher-head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856684" y="4201835"/>
            <a:ext cx="33051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 сглаженными логитами даёт стабильный градиент.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445347" y="363354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0417" y="3676055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182463" y="37114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Эффективность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182463" y="4201835"/>
            <a:ext cx="33051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50 эпох обучения, AP 52 (R50-FPN), 25 fps (T4), NMS отсутствует.</a:t>
            </a:r>
            <a:endParaRPr lang="en-US" sz="1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073" y="608409"/>
            <a:ext cx="12714446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Пост-обработка: NMS ⇢ Soft-NMS ⇢ Weighted Fusion ⇢ RT-NMS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073" y="2320052"/>
            <a:ext cx="1104424" cy="1325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08728" y="2540913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Hard NMS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2208728" y="3018473"/>
            <a:ext cx="1127879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Отсортировать боксы по score, взять максимальный, удалить все с IoU &gt; τ, повторять. Сложность O(N²).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73" y="3645337"/>
            <a:ext cx="1104424" cy="13252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08728" y="3866198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Soft NMS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2208728" y="4343757"/>
            <a:ext cx="1127879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Меняем "удаление" на "плавное понижение score". Линейный или гауссов вариант.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4970621"/>
            <a:ext cx="1104424" cy="13252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08728" y="5191482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Weighted Box Fusion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2208728" y="5669042"/>
            <a:ext cx="1127879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Кластер пересекающихся рамок усредняется с весами по score. Отлично работает с ансамблями и TTA.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6295906"/>
            <a:ext cx="1104424" cy="13252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08728" y="6516767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RT-NMS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2208728" y="6994327"/>
            <a:ext cx="1127879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CUDA-реализация для быстрой обработки на GPU без выхода в хост-память.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234" y="902613"/>
            <a:ext cx="11146869" cy="64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Процедуры обучения и стабильность градиента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7234" y="1863447"/>
            <a:ext cx="4114919" cy="546354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2618" y="2078831"/>
            <a:ext cx="3684151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Феномен дисбаланса "объекты vs фон"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42618" y="2852618"/>
            <a:ext cx="3684151" cy="132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плотном выводе якорей доля позитивов ничтожна: на COCO порядка 1–2% локализаций имеют IoU ≥ 0.5, остальные — фон.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2618" y="4306967"/>
            <a:ext cx="3684151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Hard Negative Mining — выбирать ≤ k × n_pos "наихудших" негативов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2618" y="5044440"/>
            <a:ext cx="3684151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Focal Loss — подавить вклад "лёгких" примеров множителем (1-pt)γ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2618" y="6114336"/>
            <a:ext cx="3684151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Balanced Weights — динамически увеличивать вес координатного лосса для мелких рамок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49917" y="1863447"/>
            <a:ext cx="4114919" cy="546354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5301" y="2078831"/>
            <a:ext cx="358640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Формирование богатого батча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65301" y="2528054"/>
            <a:ext cx="3684151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Типичный COCO-батч = 16 изображений на GPU – коллектор превращает его в "богатый микс":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65301" y="3649980"/>
            <a:ext cx="3684151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50% картинок содержат ≥ 4 объекта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65301" y="4387453"/>
            <a:ext cx="3684151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50% — одиночные экземпляры или пустой фон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72600" y="1863447"/>
            <a:ext cx="4114919" cy="546354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7984" y="2078831"/>
            <a:ext cx="3684151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Комбо-аугментация YOLO-семейства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587984" y="2852618"/>
            <a:ext cx="3684151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Mosaic: четыре изображения склеиваются в один холст 640×640.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87984" y="3642122"/>
            <a:ext cx="3684151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Random Perspective: случайное масштабирование, сдвиг, поворот и аффинная проекция.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491" y="541734"/>
            <a:ext cx="6726793" cy="615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Оптимизатор и расписание LR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9491" y="2981920"/>
            <a:ext cx="12798028" cy="22860"/>
          </a:xfrm>
          <a:prstGeom prst="roundRect">
            <a:avLst>
              <a:gd name="adj" fmla="val 361952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15953" y="2391013"/>
            <a:ext cx="22860" cy="590907"/>
          </a:xfrm>
          <a:prstGeom prst="roundRect">
            <a:avLst>
              <a:gd name="adj" fmla="val 361952"/>
            </a:avLst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3605808" y="2760345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9686" y="2797254"/>
            <a:ext cx="295394" cy="369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96158" y="1452801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Warm-up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86420" y="1878687"/>
            <a:ext cx="5882045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 эпохи, lr линейно от 0 до lr0 = 0.01 × (batch_size / 64)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076956" y="2981920"/>
            <a:ext cx="22860" cy="590907"/>
          </a:xfrm>
          <a:prstGeom prst="roundRect">
            <a:avLst>
              <a:gd name="adj" fmla="val 361952"/>
            </a:avLst>
          </a:prstGeom>
          <a:solidFill>
            <a:srgbClr val="E5E5E5"/>
          </a:solidFill>
          <a:ln/>
        </p:spPr>
      </p:sp>
      <p:sp>
        <p:nvSpPr>
          <p:cNvPr id="10" name="Shape 7"/>
          <p:cNvSpPr/>
          <p:nvPr/>
        </p:nvSpPr>
        <p:spPr>
          <a:xfrm>
            <a:off x="6866811" y="2760345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689" y="2797254"/>
            <a:ext cx="295394" cy="369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7161" y="3769876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Основной цикл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147423" y="4195763"/>
            <a:ext cx="5882045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Cosine schedule, 90% цикла до 10-4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10338078" y="2391013"/>
            <a:ext cx="22860" cy="590907"/>
          </a:xfrm>
          <a:prstGeom prst="roundRect">
            <a:avLst>
              <a:gd name="adj" fmla="val 361952"/>
            </a:avLst>
          </a:prstGeom>
          <a:solidFill>
            <a:srgbClr val="E5E5E5"/>
          </a:solidFill>
          <a:ln/>
        </p:spPr>
      </p:sp>
      <p:sp>
        <p:nvSpPr>
          <p:cNvPr id="15" name="Shape 11"/>
          <p:cNvSpPr/>
          <p:nvPr/>
        </p:nvSpPr>
        <p:spPr>
          <a:xfrm>
            <a:off x="10127933" y="2760345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811" y="2797254"/>
            <a:ext cx="295394" cy="369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8283" y="1452801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Хвост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7408545" y="1878687"/>
            <a:ext cx="5882045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10-4 до 0, ненулевой для суб-пиксельного регрессора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689491" y="4732615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69" y="4769525"/>
            <a:ext cx="295394" cy="3693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9571" y="4800243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SGD параметры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1329571" y="5226129"/>
            <a:ext cx="5635823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Momentum=0.9375, weight_decay=5e-4 эмпирически оптимальны для CSP-/ELAN-скелета.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7211616" y="4732615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494" y="4769525"/>
            <a:ext cx="295394" cy="3693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51696" y="4800243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AMP и град-скейлер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7851696" y="5226129"/>
            <a:ext cx="5635823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Автоматическая смешанная точность (FP16) экономит память ×2. Используют torch.cuda.amp.GradScaler.</a:t>
            </a:r>
            <a:endParaRPr lang="en-US" sz="1550" dirty="0"/>
          </a:p>
        </p:txBody>
      </p:sp>
      <p:sp>
        <p:nvSpPr>
          <p:cNvPr id="27" name="Shape 20"/>
          <p:cNvSpPr/>
          <p:nvPr/>
        </p:nvSpPr>
        <p:spPr>
          <a:xfrm>
            <a:off x="689491" y="6250662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69" y="6287572"/>
            <a:ext cx="295394" cy="3693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29571" y="6318290"/>
            <a:ext cx="259520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Self-Adversarial Training</a:t>
            </a:r>
            <a:endParaRPr lang="en-US" sz="1900" dirty="0"/>
          </a:p>
        </p:txBody>
      </p:sp>
      <p:sp>
        <p:nvSpPr>
          <p:cNvPr id="30" name="Text 22"/>
          <p:cNvSpPr/>
          <p:nvPr/>
        </p:nvSpPr>
        <p:spPr>
          <a:xfrm>
            <a:off x="1329571" y="6744176"/>
            <a:ext cx="5635823" cy="945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Сеть сама генерирует аугментацию δ*, увеличивающую лосс. После 2–3 эпох SAT-пре-трейна модель устойчивее к артефактам.</a:t>
            </a:r>
            <a:endParaRPr lang="en-US" sz="1550" dirty="0"/>
          </a:p>
        </p:txBody>
      </p:sp>
      <p:sp>
        <p:nvSpPr>
          <p:cNvPr id="31" name="Shape 23"/>
          <p:cNvSpPr/>
          <p:nvPr/>
        </p:nvSpPr>
        <p:spPr>
          <a:xfrm>
            <a:off x="7211616" y="6250662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285494" y="6287572"/>
            <a:ext cx="295394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300" dirty="0"/>
          </a:p>
        </p:txBody>
      </p:sp>
      <p:sp>
        <p:nvSpPr>
          <p:cNvPr id="33" name="Text 25"/>
          <p:cNvSpPr/>
          <p:nvPr/>
        </p:nvSpPr>
        <p:spPr>
          <a:xfrm>
            <a:off x="7851696" y="6318290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Curriculum-Hide-Small</a:t>
            </a:r>
            <a:endParaRPr lang="en-US" sz="1900" dirty="0"/>
          </a:p>
        </p:txBody>
      </p:sp>
      <p:sp>
        <p:nvSpPr>
          <p:cNvPr id="34" name="Text 26"/>
          <p:cNvSpPr/>
          <p:nvPr/>
        </p:nvSpPr>
        <p:spPr>
          <a:xfrm>
            <a:off x="7851696" y="6744176"/>
            <a:ext cx="5635823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первые 10 эпох случайно "прячут" долю мелких объектов, имитируя постепенное усложнение задачи.</a:t>
            </a:r>
            <a:endParaRPr lang="en-US" sz="15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3179"/>
            <a:ext cx="73940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RetinaNet и теория Focal Loss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48934"/>
            <a:ext cx="4951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"градиент фон-доминирует"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30078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в батче Npos позитивных и Nneg ≈ 100× больше негативов. Для BCE-кросс-энтропии средний градиент: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511034"/>
            <a:ext cx="6070163" cy="702945"/>
          </a:xfrm>
          <a:prstGeom prst="roundRect">
            <a:avLst>
              <a:gd name="adj" fmla="val 13553"/>
            </a:avLst>
          </a:prstGeom>
          <a:solidFill>
            <a:srgbClr val="FFCCD5"/>
          </a:solidFill>
          <a:ln/>
        </p:spPr>
      </p:sp>
      <p:sp>
        <p:nvSpPr>
          <p:cNvPr id="6" name="Shape 4"/>
          <p:cNvSpPr/>
          <p:nvPr/>
        </p:nvSpPr>
        <p:spPr>
          <a:xfrm>
            <a:off x="782479" y="3511034"/>
            <a:ext cx="6092785" cy="70294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7" name="Text 5"/>
          <p:cNvSpPr/>
          <p:nvPr/>
        </p:nvSpPr>
        <p:spPr>
          <a:xfrm>
            <a:off x="1009293" y="3681055"/>
            <a:ext cx="5639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𝔼[∂L/∂z] ≈ (1/Ntotal)∑(p - y)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469130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Если негативы быстро "знают", что y=0, их вклад не уходит, замораживая веса.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4217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Формула Focal Loss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3790" y="6031230"/>
            <a:ext cx="6070163" cy="702945"/>
          </a:xfrm>
          <a:prstGeom prst="roundRect">
            <a:avLst>
              <a:gd name="adj" fmla="val 13553"/>
            </a:avLst>
          </a:prstGeom>
          <a:solidFill>
            <a:srgbClr val="FFCCD5"/>
          </a:solidFill>
          <a:ln/>
        </p:spPr>
      </p:sp>
      <p:sp>
        <p:nvSpPr>
          <p:cNvPr id="11" name="Shape 9"/>
          <p:cNvSpPr/>
          <p:nvPr/>
        </p:nvSpPr>
        <p:spPr>
          <a:xfrm>
            <a:off x="782479" y="6031230"/>
            <a:ext cx="6092785" cy="70294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9293" y="6201251"/>
            <a:ext cx="5639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Lfocal = -α(1-pt)γlog pt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989326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где pt = p для позитивов, 1-p для негативов; α = 0.25, γ = 2.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424976" y="1948934"/>
            <a:ext cx="28657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Архитектура RetinaNet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24976" y="2530078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Backbone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ResNet-50/101 + Feature Pyramid Network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4976" y="2972276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Head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две независимые башни conv3×3 глубиной 4: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424976" y="3414474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классификация → (k anchors) × (C + 1) логитов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424976" y="3856672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регрессия → (k anchors) × 4 смещений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4976" y="4298871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Loss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= focal (cls) + λ × smooth-L1 (bbox), λ = 1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4976" y="4865846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COCO RetinaNet-ResNet-101-FPN показал mAP 40.8 — впервые "однопроходник" сравнялся по качеству с двухфазным Faster R-CNN.</a:t>
            </a:r>
            <a:endParaRPr lang="en-US" sz="17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2155"/>
            <a:ext cx="110888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Сжатие, квантизация, pruning и TensorRT-10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54210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7579" y="2349222"/>
            <a:ext cx="216693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Post-Training Quantization (INT8)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87579" y="3548301"/>
            <a:ext cx="2166938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Собирают калибровочные изображения, измеряют min-max активаций, вычисляют scale, переводят в INT8. На YOLO-v8s потеря mAP ≤ 0.5, latency × 1.8 быстрее.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005" y="2254210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31794" y="2349222"/>
            <a:ext cx="216705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GPTQ / OMSE INT4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831794" y="3193971"/>
            <a:ext cx="2167057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Group-wise PTQ минимизирует ошибку квантизации. OMSE подбирает scale-factor per-channel. YOLO-v9n-INT4: latency –15%, mAP –0.3.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339" y="2254210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6128" y="2349222"/>
            <a:ext cx="216705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Pruning по γ-BatchNorm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076128" y="3193971"/>
            <a:ext cx="2167057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Каналы с |γ|&lt;τ считаются "неважными". Удаляют 30-40% наименьших, fine-tune 10-15 эпох. YOLO-v9n-pruned: 2.5М парам, 4 GFLOPs, 185 fps.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673" y="2254210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320462" y="2349222"/>
            <a:ext cx="21670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TensorRT-10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320462" y="2839641"/>
            <a:ext cx="2167057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Conv + BN + SiLU схлопываются в один kernel. RT-NMS выполняется без выхода в хост-память. Winograd-форма для 3×3 блоков экономит ~30% FLOPs.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495" y="565309"/>
            <a:ext cx="9676328" cy="64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Математические аспекты пост-обработки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495" y="1721644"/>
            <a:ext cx="3541157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Общее число "сырых" выводов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9495" y="2248376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Однопроходной детектор генерирует до 250 000 сырых рамок на 1280×768. Пользователь ожидает десяток итоговых.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9495" y="3111818"/>
            <a:ext cx="4925020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Hard/Soft-NMS: дискретность vs гладкость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9495" y="3638550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Hard-NMS удаляет все рамки с IoU &gt; τ. Градиент равен нулю, кривая recall имеет "зуб" на τ ± ε.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9495" y="4481513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Soft-NMS заменяет удаление на "штраф" score. Для линейной версии: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9495" y="5370671"/>
            <a:ext cx="6133267" cy="637342"/>
          </a:xfrm>
          <a:prstGeom prst="roundRect">
            <a:avLst>
              <a:gd name="adj" fmla="val 13549"/>
            </a:avLst>
          </a:prstGeom>
          <a:solidFill>
            <a:srgbClr val="FFCCD5"/>
          </a:solidFill>
          <a:ln/>
        </p:spPr>
      </p:sp>
      <p:sp>
        <p:nvSpPr>
          <p:cNvPr id="9" name="Shape 7"/>
          <p:cNvSpPr/>
          <p:nvPr/>
        </p:nvSpPr>
        <p:spPr>
          <a:xfrm>
            <a:off x="709255" y="5370671"/>
            <a:ext cx="6153745" cy="637342"/>
          </a:xfrm>
          <a:prstGeom prst="roundRect">
            <a:avLst>
              <a:gd name="adj" fmla="val 4839"/>
            </a:avLst>
          </a:prstGeom>
          <a:solidFill>
            <a:srgbClr val="FFCCD5"/>
          </a:solidFill>
          <a:ln/>
        </p:spPr>
      </p:sp>
      <p:sp>
        <p:nvSpPr>
          <p:cNvPr id="10" name="Text 8"/>
          <p:cNvSpPr/>
          <p:nvPr/>
        </p:nvSpPr>
        <p:spPr>
          <a:xfrm>
            <a:off x="914757" y="5524857"/>
            <a:ext cx="5742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sj ← sj(1-IoU), если IoU&gt;τ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9495" y="6239232"/>
            <a:ext cx="6133267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Гауссов вариант: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9495" y="6799421"/>
            <a:ext cx="6133267" cy="637342"/>
          </a:xfrm>
          <a:prstGeom prst="roundRect">
            <a:avLst>
              <a:gd name="adj" fmla="val 13549"/>
            </a:avLst>
          </a:prstGeom>
          <a:solidFill>
            <a:srgbClr val="FFCCD5"/>
          </a:solidFill>
          <a:ln/>
        </p:spPr>
      </p:sp>
      <p:sp>
        <p:nvSpPr>
          <p:cNvPr id="13" name="Shape 11"/>
          <p:cNvSpPr/>
          <p:nvPr/>
        </p:nvSpPr>
        <p:spPr>
          <a:xfrm>
            <a:off x="709255" y="6799421"/>
            <a:ext cx="6153745" cy="637342"/>
          </a:xfrm>
          <a:prstGeom prst="roundRect">
            <a:avLst>
              <a:gd name="adj" fmla="val 4839"/>
            </a:avLst>
          </a:prstGeom>
          <a:solidFill>
            <a:srgbClr val="FFCCD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757" y="6953607"/>
            <a:ext cx="5742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sj ← sjexp(-IoU²/σ)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61873" y="1721644"/>
            <a:ext cx="303966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Weighted Box Fusion (WBF)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61873" y="2248376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Вместо удаления пересекающихся рамок бокс-кластер S={(bi,si)} сворачивается в "средневзвешенный":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61873" y="3137535"/>
            <a:ext cx="6133267" cy="637342"/>
          </a:xfrm>
          <a:prstGeom prst="roundRect">
            <a:avLst>
              <a:gd name="adj" fmla="val 13549"/>
            </a:avLst>
          </a:prstGeom>
          <a:solidFill>
            <a:srgbClr val="FFCCD5"/>
          </a:solidFill>
          <a:ln/>
        </p:spPr>
      </p:sp>
      <p:sp>
        <p:nvSpPr>
          <p:cNvPr id="18" name="Shape 16"/>
          <p:cNvSpPr/>
          <p:nvPr/>
        </p:nvSpPr>
        <p:spPr>
          <a:xfrm>
            <a:off x="7351633" y="3137535"/>
            <a:ext cx="6153745" cy="637342"/>
          </a:xfrm>
          <a:prstGeom prst="roundRect">
            <a:avLst>
              <a:gd name="adj" fmla="val 4839"/>
            </a:avLst>
          </a:prstGeom>
          <a:solidFill>
            <a:srgbClr val="FFCCD5"/>
          </a:solidFill>
          <a:ln/>
        </p:spPr>
      </p:sp>
      <p:sp>
        <p:nvSpPr>
          <p:cNvPr id="19" name="Text 17"/>
          <p:cNvSpPr/>
          <p:nvPr/>
        </p:nvSpPr>
        <p:spPr>
          <a:xfrm>
            <a:off x="7557135" y="3291721"/>
            <a:ext cx="5742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b̄ = (∑isibi)/(∑isi), s̄ = maxisi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61873" y="4006096"/>
            <a:ext cx="6133267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WBF особенно эффективен при: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61873" y="4520089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TTA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когда один и тот же детектор гоняют на флипах/масштабах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1873" y="5249942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ансамбле масштабов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YOLO-v9-s + YOLO-v9-m + RT-DETR-R50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1873" y="6092904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Комбинация Soft-NMS + WBF на COCO-val даёт +1.2 AP по сравнению с Hard-NMS.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980" y="473035"/>
            <a:ext cx="5605939" cy="537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Test-Time Augmentation (TTA)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67088"/>
            <a:ext cx="4198382" cy="419838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499" y="1467088"/>
            <a:ext cx="4198382" cy="419838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398" y="1467088"/>
            <a:ext cx="4198382" cy="4198382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01980" y="5971461"/>
            <a:ext cx="386953" cy="38695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52" y="6003727"/>
            <a:ext cx="258008" cy="32242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60859" y="6030516"/>
            <a:ext cx="2150150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Горизонтальный флип</a:t>
            </a:r>
            <a:endParaRPr lang="en-US" sz="1650" dirty="0"/>
          </a:p>
        </p:txBody>
      </p:sp>
      <p:sp>
        <p:nvSpPr>
          <p:cNvPr id="9" name="Text 3"/>
          <p:cNvSpPr/>
          <p:nvPr/>
        </p:nvSpPr>
        <p:spPr>
          <a:xfrm>
            <a:off x="1160859" y="6402348"/>
            <a:ext cx="577643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Gratis ×2 вычислений, +0.5 AP.</a:t>
            </a:r>
            <a:endParaRPr lang="en-US" sz="1350" dirty="0"/>
          </a:p>
        </p:txBody>
      </p:sp>
      <p:sp>
        <p:nvSpPr>
          <p:cNvPr id="10" name="Shape 4"/>
          <p:cNvSpPr/>
          <p:nvPr/>
        </p:nvSpPr>
        <p:spPr>
          <a:xfrm>
            <a:off x="7152203" y="5971461"/>
            <a:ext cx="386953" cy="38695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676" y="6003727"/>
            <a:ext cx="258008" cy="32242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711083" y="6030516"/>
            <a:ext cx="2150150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Scale jitter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7711083" y="6402348"/>
            <a:ext cx="577643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0.83 – 1.25 (и обратные коэффициенты 1/scale) поднимает ещё ~1 AP.</a:t>
            </a:r>
            <a:endParaRPr lang="en-US" sz="1350" dirty="0"/>
          </a:p>
        </p:txBody>
      </p:sp>
      <p:sp>
        <p:nvSpPr>
          <p:cNvPr id="14" name="Shape 7"/>
          <p:cNvSpPr/>
          <p:nvPr/>
        </p:nvSpPr>
        <p:spPr>
          <a:xfrm>
            <a:off x="601980" y="7021592"/>
            <a:ext cx="386953" cy="38695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452" y="7053858"/>
            <a:ext cx="258008" cy="32242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60859" y="7080647"/>
            <a:ext cx="2150150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Поворот 90°</a:t>
            </a:r>
            <a:endParaRPr lang="en-US" sz="1650" dirty="0"/>
          </a:p>
        </p:txBody>
      </p:sp>
      <p:sp>
        <p:nvSpPr>
          <p:cNvPr id="17" name="Text 9"/>
          <p:cNvSpPr/>
          <p:nvPr/>
        </p:nvSpPr>
        <p:spPr>
          <a:xfrm>
            <a:off x="1160859" y="7452479"/>
            <a:ext cx="577643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Пригоден для аэрофото и медицины.</a:t>
            </a:r>
            <a:endParaRPr lang="en-US" sz="1350" dirty="0"/>
          </a:p>
        </p:txBody>
      </p:sp>
      <p:sp>
        <p:nvSpPr>
          <p:cNvPr id="18" name="Shape 10"/>
          <p:cNvSpPr/>
          <p:nvPr/>
        </p:nvSpPr>
        <p:spPr>
          <a:xfrm>
            <a:off x="7152203" y="7021592"/>
            <a:ext cx="386953" cy="38695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7216676" y="7053858"/>
            <a:ext cx="258008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7711083" y="7080647"/>
            <a:ext cx="2150150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Pipeline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7711083" y="7452479"/>
            <a:ext cx="5776436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Каждый вариант прогоняется, координаты возвращаются в родную систему, объединяются Soft-NMS → WBF.</a:t>
            </a:r>
            <a:endParaRPr lang="en-US" sz="13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494" y="723662"/>
            <a:ext cx="12773025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Совмещение обнаружения с трекингом и видео-attention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4494" y="2509718"/>
            <a:ext cx="521803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вычислительного бюджета в видео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4494" y="3032641"/>
            <a:ext cx="613755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30 fps потоках бессмысленно повторно считать полный CNN на каждый кадр: соседние рамки сильно коррелированы по положению.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4494" y="4196477"/>
            <a:ext cx="613755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Классический гибрид — детект на первом кадре + трекинг Калмана (Deep SORT / ByteTrack) — позволяет выполнять тяжёлый YOLO только на 5-10 fps.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4494" y="5380673"/>
            <a:ext cx="279570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ByteTrack + YOLO-v8 / v9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4494" y="5903595"/>
            <a:ext cx="613755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ByteTrack ассоциирует детекции текущего кадра и предсказанные треки по IoU и евклидову расстоянию ReID-вектора.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57586" y="2509718"/>
            <a:ext cx="346007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Video Swin-Transformer-Detect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57586" y="3032641"/>
            <a:ext cx="613755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Backbone делит вычисления между пространственным и временным измерениями: внутри каждого окна 8×8×3 attention упорядочен "space→time".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57586" y="4196477"/>
            <a:ext cx="613755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Кадры шерингают половину self-attention слоёв; снижение FLOPs ≈ 40%.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57586" y="5053965"/>
            <a:ext cx="397954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Формула совместного лосса трека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57586" y="5576888"/>
            <a:ext cx="61375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Траектория bt аппроксимируется полиномом второго порядка: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57586" y="6133148"/>
            <a:ext cx="6137553" cy="632698"/>
          </a:xfrm>
          <a:prstGeom prst="roundRect">
            <a:avLst>
              <a:gd name="adj" fmla="val 13552"/>
            </a:avLst>
          </a:prstGeom>
          <a:solidFill>
            <a:srgbClr val="FFCCD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47466" y="6133148"/>
            <a:ext cx="6157793" cy="632698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15" name="Text 13"/>
          <p:cNvSpPr/>
          <p:nvPr/>
        </p:nvSpPr>
        <p:spPr>
          <a:xfrm>
            <a:off x="7551539" y="6286143"/>
            <a:ext cx="574964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bt+1 ≈ bt + vtΔt + ½at(Δt)²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57586" y="6995398"/>
            <a:ext cx="61375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Сеть параллельно регрессирует скорость vt и ускорение at.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685" y="880824"/>
            <a:ext cx="7712631" cy="1278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Anchor-free 2.0: DiffusionDet, DINO-Det, DINO-v2-Anchor-less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5685" y="2465546"/>
            <a:ext cx="153353" cy="1423273"/>
          </a:xfrm>
          <a:prstGeom prst="roundRect">
            <a:avLst>
              <a:gd name="adj" fmla="val 56004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75742" y="2465546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DiffusionDet (2023)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75742" y="2907625"/>
            <a:ext cx="7252573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Задача ставится как условное диффузионное моделирование множества боксов. К истинным рамкам добавляют гауссов шум, учат сеть "убирать" шум. AP = 45 (ResNet-50), 28 fps.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22390" y="4093250"/>
            <a:ext cx="153353" cy="1423273"/>
          </a:xfrm>
          <a:prstGeom prst="roundRect">
            <a:avLst>
              <a:gd name="adj" fmla="val 56004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82447" y="4093250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DINO-Det (2024)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82447" y="4535329"/>
            <a:ext cx="6945868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Teacher = anchors-DETR-ensemble, student = трансформер без anchors. Псевдо-метки свёртываются, обучают 50 эпох, затем student слегка fine-tune на GT.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29095" y="5720953"/>
            <a:ext cx="153353" cy="1423273"/>
          </a:xfrm>
          <a:prstGeom prst="roundRect">
            <a:avLst>
              <a:gd name="adj" fmla="val 56004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89152" y="5720953"/>
            <a:ext cx="3204686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DINO-v2-Anchor-less (2025)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89152" y="6163032"/>
            <a:ext cx="6639163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Большой ViT-энтренер, 1B параметров, обучен CLIP-подобным контрастом. Token-patch 14×14 претендует быть "объектным" и самореорганизуется.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8696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Segment Anything (SAM) как универсальный энкодер объектов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69882"/>
            <a:ext cx="4042172" cy="2498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6515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Архитектура SAM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141958"/>
            <a:ext cx="40421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ViT-H (2G парам) + Mask Decoder. На вход: prompt-точка / бокс / текст → выход: плотная маска 256×256.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449" y="2869882"/>
            <a:ext cx="4042291" cy="24982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9449" y="5651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Zero-shot детект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119449" y="6142077"/>
            <a:ext cx="40422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Подать регулярную сетку 4×4 "prompt-box" → SAM возвращает 16 масок; их bbox-ы идут в YOLO-head-refiner.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228" y="2869882"/>
            <a:ext cx="4042291" cy="24982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45228" y="5651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Edge-вариации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445228" y="6142077"/>
            <a:ext cx="40422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SAM-Tiny (ViT-t/4, 30M парам) квантизируется в INT8, работает 15 fps на EdgeTPU-v3.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5587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Federated / Edge MLOps, GDPR и непрерывный деплой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244679" y="2938224"/>
            <a:ext cx="33344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дрейфа данных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28643"/>
            <a:ext cx="378535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Камерные условия (освещение, загрязнение оптики) меняются. Если модель обучена офлайн, качество падает через месяцы.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831" y="3565922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02165" y="2756773"/>
            <a:ext cx="34197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FATE-v2 federated fine-tune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702165" y="3247192"/>
            <a:ext cx="37853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Каждое устройство хранит лёгкую копию YOLO-v9-n-LoRA-8bit. Выполняет градиентные шаги на локальных кадрах; градиенты сэмплируются и агрегируются.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43054" y="394394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6"/>
          <p:cNvSpPr/>
          <p:nvPr/>
        </p:nvSpPr>
        <p:spPr>
          <a:xfrm>
            <a:off x="9702165" y="54018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GDPR-совместимость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02165" y="5892284"/>
            <a:ext cx="378535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Изображения не покидают устройство, что соответствует требованиям защиты персональных данных.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031" y="6110168"/>
            <a:ext cx="339328" cy="4242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743908" y="54018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Edge-компиляция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793790" y="5892284"/>
            <a:ext cx="378535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Модель запускают на краю, удаляют лица/номера, а на сервер передают лишь полигоны. Ограничение: вес модели ≤ 20 MB LPDDR4.</a:t>
            </a:r>
            <a:endParaRPr lang="en-US" sz="17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698807" y="573214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6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0176"/>
            <a:ext cx="99101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Уязвимости и противодействие атакам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859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Patch-based attack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67075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сцену наклеивают QR-подобный патч, который максимизирует сдвиг регрессии рамки: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248031"/>
            <a:ext cx="6070163" cy="702945"/>
          </a:xfrm>
          <a:prstGeom prst="roundRect">
            <a:avLst>
              <a:gd name="adj" fmla="val 13553"/>
            </a:avLst>
          </a:prstGeom>
          <a:solidFill>
            <a:srgbClr val="FFCCD5"/>
          </a:solidFill>
          <a:ln/>
        </p:spPr>
      </p:sp>
      <p:sp>
        <p:nvSpPr>
          <p:cNvPr id="6" name="Shape 4"/>
          <p:cNvSpPr/>
          <p:nvPr/>
        </p:nvSpPr>
        <p:spPr>
          <a:xfrm>
            <a:off x="782479" y="4248031"/>
            <a:ext cx="6092785" cy="70294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7" name="Text 5"/>
          <p:cNvSpPr/>
          <p:nvPr/>
        </p:nvSpPr>
        <p:spPr>
          <a:xfrm>
            <a:off x="1009293" y="4418052"/>
            <a:ext cx="5639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δ* = argmax|δ|∞&lt;ε, supp(δ)=Ω IoU(b*, b̂(θ,I+δ))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06127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PGD-поиск на плоскости CMYK; физически печатная наклейка скрывает дорожный знак для YOLO-v7-l с вероятностью 87%.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24976" y="26859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Object-hallucination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4976" y="3267075"/>
            <a:ext cx="60701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Шум вызывает ложный бокс ("Stop" посреди асфальта). Защита — ансамбль с контекст-детектором: стоп-знак не должен висеть выше полосы неба, а светофор — лежать на земле.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24976" y="4945499"/>
            <a:ext cx="46221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Expectation over Transformation (EoT)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24976" y="5526643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Атаку верифицируют под случайными аугментациями (угол 0-30°, JPEG-Q 50-90, ISO-noise). Модель считается устойчивой, если медиана падения mAP ≤ 2%.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762" y="1230154"/>
            <a:ext cx="11065669" cy="50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Датасеты, методология оценки и тонкие ловушки статистики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68762" y="2063115"/>
            <a:ext cx="4197906" cy="4936331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8902" y="2233255"/>
            <a:ext cx="2031563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Исторические своды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8902" y="2584609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Pascal VOC-2007/2012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20 категорий, ~23k изображений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8902" y="3161467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ImageNet-Det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200 классов, 456k кадров, неплотная разметка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8902" y="3738324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Microsoft COCO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80 категорий, 118k train, 5k val, 41k test-dev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8902" y="4315182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COCO-2020-panoptic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добавлены маски, 201 класс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29188" y="2063115"/>
            <a:ext cx="4197906" cy="4936331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9328" y="2233255"/>
            <a:ext cx="2685455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Интерпретация метрик COCO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343049" y="2669857"/>
            <a:ext cx="3613904" cy="3976688"/>
          </a:xfrm>
          <a:prstGeom prst="roundRect">
            <a:avLst>
              <a:gd name="adj" fmla="val 188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50669" y="2677478"/>
            <a:ext cx="3598188" cy="7303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513784" y="2782610"/>
            <a:ext cx="870347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AP0.5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16792" y="2782610"/>
            <a:ext cx="866537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"обнаружил ≈ верно"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15989" y="2782610"/>
            <a:ext cx="870347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YOLO-v9 – 74%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50669" y="3407807"/>
            <a:ext cx="3598188" cy="9903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513784" y="3512939"/>
            <a:ext cx="870347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AP0.75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16792" y="3512939"/>
            <a:ext cx="866537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строгая подгонка рамок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15989" y="3512939"/>
            <a:ext cx="870347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Faster R-CNN – 60%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350669" y="4398169"/>
            <a:ext cx="3598188" cy="9903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513784" y="4503301"/>
            <a:ext cx="870347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APS,M,L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16792" y="4503301"/>
            <a:ext cx="866537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split по диагонали bbox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15989" y="4503301"/>
            <a:ext cx="870347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FCOS выигрывает в APS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50669" y="5388531"/>
            <a:ext cx="3598188" cy="12503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513784" y="5493663"/>
            <a:ext cx="870347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AR1,10,100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16792" y="5493663"/>
            <a:ext cx="866537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recall при ограничении вывода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915989" y="5493663"/>
            <a:ext cx="8703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DETR выигрывает при AR100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99328" y="2669857"/>
            <a:ext cx="22860" cy="3976688"/>
          </a:xfrm>
          <a:prstGeom prst="rect">
            <a:avLst/>
          </a:prstGeom>
          <a:solidFill>
            <a:srgbClr val="FF002D"/>
          </a:solidFill>
          <a:ln/>
        </p:spPr>
      </p:sp>
      <p:sp>
        <p:nvSpPr>
          <p:cNvPr id="29" name="Shape 27"/>
          <p:cNvSpPr/>
          <p:nvPr/>
        </p:nvSpPr>
        <p:spPr>
          <a:xfrm>
            <a:off x="9289613" y="2063115"/>
            <a:ext cx="4197906" cy="4936331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59754" y="2233255"/>
            <a:ext cx="3857625" cy="50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Стандартная ошибка и "оверфит на валидацию"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9459754" y="2838450"/>
            <a:ext cx="3857625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COCO-val (5k кадров) → σ(mAP) ≈ 0.4 п.п.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459754" y="3155275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Разница 0.2-0.3 между моделями может быть флуктуацией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459754" y="3732133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Рекомендуется иметь "охлаждённый" hold-out (15% COCO-train)</a:t>
            </a:r>
            <a:endParaRPr lang="en-US" sz="12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829" y="572333"/>
            <a:ext cx="12759690" cy="129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Рациональная эффективность и формальные инварианты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7829" y="2391728"/>
            <a:ext cx="3528893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Рациональная эффективность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7829" y="2950369"/>
            <a:ext cx="6126242" cy="644485"/>
          </a:xfrm>
          <a:prstGeom prst="roundRect">
            <a:avLst>
              <a:gd name="adj" fmla="val 13552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717471" y="2950369"/>
            <a:ext cx="6146959" cy="64448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925354" y="3106222"/>
            <a:ext cx="5731193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η = AP0.5:0.95 / log10(F·T)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7829" y="3828693"/>
            <a:ext cx="6126242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График η vs модель показывает "верхнюю оболочку" Парето: YOLO-v9-n и RT-DETR-R18 оказываются ближе к верху, Faster R-CNN-Res101 — ниже.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7829" y="5034915"/>
            <a:ext cx="3496985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Эластичность по разрешению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27829" y="5593556"/>
            <a:ext cx="6126242" cy="644485"/>
          </a:xfrm>
          <a:prstGeom prst="roundRect">
            <a:avLst>
              <a:gd name="adj" fmla="val 13552"/>
            </a:avLst>
          </a:prstGeom>
          <a:solidFill>
            <a:srgbClr val="FFCCD5"/>
          </a:solidFill>
          <a:ln/>
        </p:spPr>
      </p:sp>
      <p:sp>
        <p:nvSpPr>
          <p:cNvPr id="10" name="Shape 8"/>
          <p:cNvSpPr/>
          <p:nvPr/>
        </p:nvSpPr>
        <p:spPr>
          <a:xfrm>
            <a:off x="717471" y="5593556"/>
            <a:ext cx="6146959" cy="64448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11" name="Text 9"/>
          <p:cNvSpPr/>
          <p:nvPr/>
        </p:nvSpPr>
        <p:spPr>
          <a:xfrm>
            <a:off x="925354" y="5749409"/>
            <a:ext cx="5731193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ε = ∂log(AP) / ∂log(H)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7829" y="6471880"/>
            <a:ext cx="6126242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Anchor-based системы: ε &gt; 0 в районе 1×-1.5× масштаба, потом насыщается. Deformable / Diffusion Det удерживают ε положительной до 2×.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8897" y="2391728"/>
            <a:ext cx="5154930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Формула "цена-качество" для edge-проекта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68897" y="2924413"/>
            <a:ext cx="612624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имеется бюджет B = 6 GFLOPs, контакт S = 30 ms latency. Тогда: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68897" y="3823811"/>
            <a:ext cx="6126242" cy="3402925"/>
          </a:xfrm>
          <a:prstGeom prst="roundRect">
            <a:avLst>
              <a:gd name="adj" fmla="val 256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76517" y="3831431"/>
            <a:ext cx="6111002" cy="5973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584638" y="3963710"/>
            <a:ext cx="110811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16139" y="3963710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FLOPs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43830" y="3963710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71521" y="3963710"/>
            <a:ext cx="110811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Выбор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76517" y="4428768"/>
            <a:ext cx="6111002" cy="9301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584638" y="4561046"/>
            <a:ext cx="1108115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YOLO-v9-n-pruned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16139" y="4561046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 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43830" y="4561046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171521" y="4561046"/>
            <a:ext cx="110811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76517" y="5358884"/>
            <a:ext cx="6111002" cy="9301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584638" y="5491163"/>
            <a:ext cx="1108115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SSDLite-Mobilenet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16139" y="5491163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 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43830" y="5491163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171521" y="5491163"/>
            <a:ext cx="110811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76517" y="6289000"/>
            <a:ext cx="6111002" cy="9301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584638" y="6421279"/>
            <a:ext cx="1108115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RT-DETR-R18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16139" y="6421279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8 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643830" y="6421279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171521" y="6421279"/>
            <a:ext cx="1108115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✗ (выбыл по FLOPs)</a:t>
            </a:r>
            <a:endParaRPr lang="en-US" sz="16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4018"/>
            <a:ext cx="108802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Large-Vision-Models-as-Detector (LVM-Det)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762958"/>
            <a:ext cx="1134070" cy="1669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1989773"/>
            <a:ext cx="32788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GPT-4V, Gemini-Pro-Vision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68022" y="2480191"/>
            <a:ext cx="1121949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Модели масштаба 10⁹-10¹¹ параметров, обученные CLIP-подобно, умеют отвечать на prompt о рамках объектов.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432810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8022" y="36596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Coarse-boxes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68022" y="4150042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LVM выдает приблизительные рамки (~150 px точность).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79369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8022" y="5020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YOLO-v9-refiner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268022" y="5510927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Лёгкий YOLO-v9-refiner (nano-head) уточняет координаты.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154579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68022" y="6381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RT-NMS + WBF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268022" y="6871811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Собирают финальный вывод. Позволяет "по щелчку" добавлять новые классы (zero-shot).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1632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Формальное многоуровневое представление задачи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9889" y="2542818"/>
            <a:ext cx="2094428" cy="13069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619" y="3158847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41131" y="2769632"/>
            <a:ext cx="3605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Уровень 3: риск приложения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241131" y="3260050"/>
            <a:ext cx="36050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 = ∫Φ(Det(I;θ),B,κ)dμ(I)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070991" y="3862864"/>
            <a:ext cx="8359854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734" y="3906441"/>
            <a:ext cx="4188857" cy="13069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619" y="4360545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88405" y="4133255"/>
            <a:ext cx="35917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Уровень 2: алгоритм вывода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288405" y="4623673"/>
            <a:ext cx="35917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Det(I;θ) = PostProc(fθ(I))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118265" y="5226487"/>
            <a:ext cx="7312581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460" y="5270063"/>
            <a:ext cx="6283285" cy="13069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7619" y="5724168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335560" y="5496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Уровень 1: loss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335560" y="5987296"/>
            <a:ext cx="32838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L(θ) = 𝔼(I,B)∑q=1Qℓassign(I,B;θ,q)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793790" y="6832163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CI-pipeline внутренний градиент оптимизирует θ, а внешняя человеческая петля решает, достаточно ли R &lt; Rbudget при ограничениях latency, DRAM и энергопакета.</a:t>
            </a:r>
            <a:endParaRPr lang="en-US" sz="17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0622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Тенденции следующего цикла исследований (горизонт 2026)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2834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2970848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006209"/>
            <a:ext cx="31973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Плотные токены ViT-типа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496627"/>
            <a:ext cx="546806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Каждый 14×14 patch соревнуется за роль объекта, attention квадратный, сложность O(N²) — оптимизируют частичным энкодером (Grouped-query).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282458" y="292834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528" y="2970848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19574" y="3006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Diffusion detection 2.0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019574" y="3496627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DINO-DiffDet объединяет CLIP-teachers и диффузию, обещает NMS-free + zero-shot.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54018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5444371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54797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Energy-aware NAS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30906" y="5970151"/>
            <a:ext cx="54680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Супер-нет одновременно учит веса и архитектуру, штраф за FLOPs/Вт; выход на ASIC-погон в NVIDIA Jetson Thor.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282458" y="54018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367528" y="544437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2"/>
          <p:cNvSpPr/>
          <p:nvPr/>
        </p:nvSpPr>
        <p:spPr>
          <a:xfrm>
            <a:off x="8019574" y="5479733"/>
            <a:ext cx="34868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Federated continual learning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019574" y="5970151"/>
            <a:ext cx="54680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Градиент-скинни-дропауты (1/32) передают только важные направления, что вписывается в LTE-uplink 100 kbit/сутки.</a:t>
            </a:r>
            <a:endParaRPr lang="en-US" sz="17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8869"/>
            <a:ext cx="92990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Этические аспекты и регулирование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77810"/>
            <a:ext cx="6233517" cy="2047994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712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GDPR / CCPA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202662"/>
            <a:ext cx="576464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Хранить лица и номера — персональные данные. Выход: обрезать кадр до bbox + 20 px рамки, хранить только низкое разрешение.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254121" y="2477810"/>
            <a:ext cx="6233517" cy="2047994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88555" y="2712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Edge-анонимизация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88555" y="3202662"/>
            <a:ext cx="57646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Модели &lt; 20 MB, инференс на камере, данные покидают устройство уже "обличие-свободные".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52618"/>
            <a:ext cx="6233517" cy="2047994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4987052"/>
            <a:ext cx="33373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Европейский AI Act (2025)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477470"/>
            <a:ext cx="576464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Вводит класс "высокого риска" — системы видеонаблюдения обязаны регистрировать falsePositiveRate и публиковать статистику ежемесячно.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254121" y="4752618"/>
            <a:ext cx="6233517" cy="2047994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555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Fairness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88555" y="5477470"/>
            <a:ext cx="576464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Набор COCO не сбалансирован (70% "person" — мужчины). В медицинских датасетах перекос расы/возраста ведёт к непредсказуемым FNR.</a:t>
            </a:r>
            <a:endParaRPr lang="en-US" sz="1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0297" y="369689"/>
            <a:ext cx="4113133" cy="41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Заключение и пример кода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0297" y="1112044"/>
            <a:ext cx="6344722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Двадцатилетняя эволюция объектного детекта прошла путь от скользящего окна к энд-to-энд трансформерам и диффузионным моделям.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0297" y="1662946"/>
            <a:ext cx="6344722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2025 г. конкурентоспособными считаются три стратегии: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0297" y="2029063"/>
            <a:ext cx="6344722" cy="1581150"/>
          </a:xfrm>
          <a:prstGeom prst="roundRect">
            <a:avLst>
              <a:gd name="adj" fmla="val 357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7917" y="2036683"/>
            <a:ext cx="6328767" cy="3914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13053" y="2124908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Сценарий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26174" y="2124908"/>
            <a:ext cx="183308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Лучший класс моделей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35485" y="2124908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(fps / mAP)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917" y="2428161"/>
            <a:ext cx="6328767" cy="3914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3053" y="2516386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edge-видео 30 fps, ≤ 6 GFlops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26174" y="2516386"/>
            <a:ext cx="183308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YOLO-v9-n-INT4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35485" y="2516386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185 fps / 29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7917" y="2819638"/>
            <a:ext cx="6328767" cy="3914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3053" y="2907863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облако real-time, 50 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26174" y="2907863"/>
            <a:ext cx="183308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RT-DETR-R50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35485" y="2907863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37 fps / 49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7917" y="3211116"/>
            <a:ext cx="6328767" cy="3914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3053" y="3299341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офлайн-аналитика, IoU &gt; 0.8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26174" y="3299341"/>
            <a:ext cx="183308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H-DETR-R101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35485" y="3299341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20 fps / 55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50298" y="1125498"/>
            <a:ext cx="4557236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кода Edge-deploy YOLO-v9-n-INT4-pruned + RT-NMS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50298" y="1486495"/>
            <a:ext cx="6344722" cy="6222206"/>
          </a:xfrm>
          <a:prstGeom prst="roundRect">
            <a:avLst>
              <a:gd name="adj" fmla="val 907"/>
            </a:avLst>
          </a:prstGeom>
          <a:solidFill>
            <a:srgbClr val="FFCCD5"/>
          </a:solidFill>
          <a:ln/>
        </p:spPr>
      </p:sp>
      <p:sp>
        <p:nvSpPr>
          <p:cNvPr id="24" name="Shape 22"/>
          <p:cNvSpPr/>
          <p:nvPr/>
        </p:nvSpPr>
        <p:spPr>
          <a:xfrm>
            <a:off x="7143631" y="1486495"/>
            <a:ext cx="6358057" cy="6222206"/>
          </a:xfrm>
          <a:prstGeom prst="roundRect">
            <a:avLst>
              <a:gd name="adj" fmla="val 324"/>
            </a:avLst>
          </a:prstGeom>
          <a:solidFill>
            <a:srgbClr val="FFCCD5"/>
          </a:solidFill>
          <a:ln/>
        </p:spPr>
      </p:sp>
      <p:sp>
        <p:nvSpPr>
          <p:cNvPr id="25" name="Text 23"/>
          <p:cNvSpPr/>
          <p:nvPr/>
        </p:nvSpPr>
        <p:spPr>
          <a:xfrm>
            <a:off x="7277933" y="1587222"/>
            <a:ext cx="6089452" cy="602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cv2, numpy as np, time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yolov9_trt import Engine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engine = Engine("yolov9n_pruned_int4.trt") # 4 GFLOPs, 2.5 M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cv2.VideoCapture("rtsp://camera")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ret: break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cv2.resize(frame, (640, 640))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img[:, :, ::-1].astype(np.float32) / 255.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np.transpose(x, (2, 0, 1))[None]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t0 = time.time()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boxes, scores, cls = engine(x) # RT-NMS inside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(time.time() - t0) * 1000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(x1, y1, x2, y2), s, c in zip(boxes, scores, cls):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 &lt; 0.25: continue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cv2.rectangle(frame, (x1, y1), (x2, y2), (0,255,0), 2)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cv2.putText(frame, f"{engine.names[int(c)]}:{s:.2f}",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(x1, y1-5), cv2.FONT_HERSHEY_SIMPLEX, 0.5, (0,255,0), 1)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cv2.putText(frame, f"{t:.1f} ms", (10,30),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cv2.FONT_HERSHEY_SIMPLEX, 1, (0,0,255), 2)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cv2.imshow("det", frame)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cv2.waitKey(1)==27: break</a:t>
            </a:r>
            <a:endParaRPr lang="en-US" sz="10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2025-05-30T15:41:53Z</dcterms:created>
  <dcterms:modified xsi:type="dcterms:W3CDTF">2025-05-30T15:41:53Z</dcterms:modified>
</cp:coreProperties>
</file>