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6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1180"/>
            <a:ext cx="72073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Генеративные модели в компьютерном зрении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78900"/>
            <a:ext cx="720732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Добро пожаловать на лекцию, посвященную генеративным моделям в компьютерном зрении. Мы рассмотрим различные подходы к генерации изображений, от вариационных автокодировщиков до состязательных сетей и диффузионных моделей. Изучим их математические основы, практические применения и сравним их эффективность по различным метрикам.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602837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6035992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6011466"/>
            <a:ext cx="24055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TS Compact Bold" pitchFamily="34" charset="0"/>
                <a:ea typeface="MTS Compact Bold" pitchFamily="34" charset="-122"/>
                <a:cs typeface="MTS Compact Bold" pitchFamily="34" charset="-120"/>
              </a:rPr>
              <a:t>by Иван Копылов</a:t>
            </a:r>
            <a:endParaRPr lang="en-US" sz="2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333" y="705564"/>
            <a:ext cx="12595384" cy="51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Постановка задачи и место генерации в иерархии зрительных задач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2333" y="1543526"/>
            <a:ext cx="12915186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отличие от классификации или локализации объектов, где модель отображает изображение в пространство низкой размерности, генеративная постановка требует аппроксимировать распределение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pdata(I)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, стоящее за совокупностью натуральных изображений.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5580" y="2250400"/>
            <a:ext cx="2130981" cy="94202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056" y="2694503"/>
            <a:ext cx="229910" cy="2874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0033" y="2413873"/>
            <a:ext cx="2710101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Самостоятельная синтезация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30033" y="2767489"/>
            <a:ext cx="2710101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Создание новых изображений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907399" y="3203258"/>
            <a:ext cx="8539282" cy="11430"/>
          </a:xfrm>
          <a:prstGeom prst="roundRect">
            <a:avLst>
              <a:gd name="adj" fmla="val 600902"/>
            </a:avLst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90" y="3233261"/>
            <a:ext cx="4261961" cy="94202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056" y="3560564"/>
            <a:ext cx="229910" cy="2874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5524" y="3396734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Обратная задача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095524" y="3750350"/>
            <a:ext cx="2555319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Условный вывод и восстановление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5972889" y="4186118"/>
            <a:ext cx="7473791" cy="11430"/>
          </a:xfrm>
          <a:prstGeom prst="roundRect">
            <a:avLst>
              <a:gd name="adj" fmla="val 600902"/>
            </a:avLst>
          </a:prstGeom>
          <a:solidFill>
            <a:srgbClr val="FFFFFF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99" y="4216122"/>
            <a:ext cx="6392942" cy="94202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056" y="4543425"/>
            <a:ext cx="229910" cy="28741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161014" y="4379595"/>
            <a:ext cx="2020610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Индуктивное биение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7161014" y="4733211"/>
            <a:ext cx="202061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Структурирование образов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572333" y="5342096"/>
            <a:ext cx="12915186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 задача описывается парой стохастических преобразований: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572333" y="5787509"/>
            <a:ext cx="12915186" cy="1029653"/>
          </a:xfrm>
          <a:prstGeom prst="roundRect">
            <a:avLst>
              <a:gd name="adj" fmla="val 6671"/>
            </a:avLst>
          </a:prstGeom>
          <a:solidFill>
            <a:srgbClr val="FFCCD5"/>
          </a:solidFill>
          <a:ln/>
        </p:spPr>
      </p:sp>
      <p:sp>
        <p:nvSpPr>
          <p:cNvPr id="20" name="Shape 12"/>
          <p:cNvSpPr/>
          <p:nvPr/>
        </p:nvSpPr>
        <p:spPr>
          <a:xfrm>
            <a:off x="564237" y="5787509"/>
            <a:ext cx="12931378" cy="1029653"/>
          </a:xfrm>
          <a:prstGeom prst="roundRect">
            <a:avLst>
              <a:gd name="adj" fmla="val 2382"/>
            </a:avLst>
          </a:prstGeom>
          <a:solidFill>
            <a:srgbClr val="FFCCD5"/>
          </a:solidFill>
          <a:ln/>
        </p:spPr>
      </p:sp>
      <p:sp>
        <p:nvSpPr>
          <p:cNvPr id="21" name="Text 13"/>
          <p:cNvSpPr/>
          <p:nvPr/>
        </p:nvSpPr>
        <p:spPr>
          <a:xfrm>
            <a:off x="727710" y="5910143"/>
            <a:ext cx="12604433" cy="78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 ~ p_Z(z), </a:t>
            </a:r>
            <a:endParaRPr lang="en-US" sz="12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ĥat I = g_θ(z), </a:t>
            </a:r>
            <a:endParaRPr lang="en-US" sz="12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θ^* = arg min_θ D_dist(p_data || p_θ)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72333" y="7001113"/>
            <a:ext cx="12915186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z ∈ ℝd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скрытая латентная переменная с простым распределением, а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gθ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— дифференцируемый декодер. Различают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явные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модели с аналитической плотностью и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неявные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(например GAN), где плотность существует, но невычислима.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113" y="531971"/>
            <a:ext cx="12963406" cy="936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Вариационный автокодировщик: байесовский вывод в латентном пространстве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4113" y="1767483"/>
            <a:ext cx="12963406" cy="47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Вариационный автокодировщик (VAE) представляет собой байесовскую модель, где скрытые факторы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z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порождают наблюдение по условной плотности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pθ(I|z)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. Полная маргинализация обычно недоступна в закрытом виде: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4113" y="2415064"/>
            <a:ext cx="12963406" cy="464106"/>
          </a:xfrm>
          <a:prstGeom prst="roundRect">
            <a:avLst>
              <a:gd name="adj" fmla="val 135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516731" y="2415064"/>
            <a:ext cx="12978170" cy="464106"/>
          </a:xfrm>
          <a:prstGeom prst="roundRect">
            <a:avLst>
              <a:gd name="adj" fmla="val 4841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66393" y="2527340"/>
            <a:ext cx="12678847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p_θ(I) = ∫ p_θ(I|z)p_Z(z)dz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13" y="3047643"/>
            <a:ext cx="748784" cy="898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7449" y="3197304"/>
            <a:ext cx="18721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Вариационный метод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97449" y="3521035"/>
            <a:ext cx="11990070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Использует аппроксимацию qφ(z|I) вместо точного постериора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13" y="3946207"/>
            <a:ext cx="748784" cy="898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97449" y="4095869"/>
            <a:ext cx="198251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Нижняя граница (ELBO)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97449" y="4419600"/>
            <a:ext cx="11990070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log pθ(I) ≥ 𝓛ELBO = 𝔼qφ(z|I)[log pθ(I|z)] - KL(qφ(z|I) || pZ(z))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13" y="4844772"/>
            <a:ext cx="748784" cy="898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97449" y="4994434"/>
            <a:ext cx="20859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Трюк репараметризации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97449" y="5318165"/>
            <a:ext cx="11990070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ε ~ 𝓝(0,Id), z = μφ(I) + σφ(I)⊙ε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13" y="5743337"/>
            <a:ext cx="748784" cy="898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97449" y="5892998"/>
            <a:ext cx="23316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Бета-VAE и disentanglement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97449" y="6216729"/>
            <a:ext cx="11990070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Увеличение коэффициента перед KL-регулятором до β&gt;1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24113" y="6810375"/>
            <a:ext cx="12963406" cy="47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Conditional VAE позволяет генерировать изображения при заданной метке или текстовой подстроке. VQ-VAE вводит дискретное латентное пространство с кодбуком, что полезно для квантования сущностей, например патчей текстуры.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24113" y="7457956"/>
            <a:ext cx="1296340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Ограничением вариационных моделей является размытость текстур из-за агрессивного KL-регуляризатора, который может приводить к игнорированию латента декодером (posterior collapse).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288"/>
            <a:ext cx="12738735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Генеративно-состязательные сети: теория нулевой суммы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8784" y="2353151"/>
            <a:ext cx="12738735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Идея GAN, предложенная Goodfellow (2014), заключается в игре двух нейронных сетей.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Генератор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Gθ создает изображения из шума, а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дискриминатор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 Dψ пытается отличить настоящие изображения от сгенерированных.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8784" y="3278386"/>
            <a:ext cx="4103727" cy="1590080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40" y="3499842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Minimax-игра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70240" y="3962400"/>
            <a:ext cx="3660815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minθ maxψ 𝓥(G,D) = 𝔼I~pdata[log Dψ(I)] + 𝔼z~pZ[log(1-Dψ(Gθ(z)))]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66348" y="3278386"/>
            <a:ext cx="4103727" cy="1590080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7804" y="3499842"/>
            <a:ext cx="3614976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Оптимальный дискриминатор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87804" y="3962400"/>
            <a:ext cx="366081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D*(I) = pdata(I) / (pdata(I) + pθ(I))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383911" y="3278386"/>
            <a:ext cx="4103727" cy="1590080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5367" y="3499842"/>
            <a:ext cx="3660815" cy="668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Дивергенция Дженсена-Шеннона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5367" y="4296608"/>
            <a:ext cx="366081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minθ 2(JS(pdata || pθ) - log2)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8784" y="5109091"/>
            <a:ext cx="12738735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Обобщение через f-дивергенции позволяет выбирать различные меры близости распределений. Wasserstein GAN использует землекопное расстояние, которое не расходится, когда поддержки распределений не пересекаются.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48784" y="6034326"/>
            <a:ext cx="12738735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mode collapse, когда генератор "выучивает" только подмножество мод датасета, решается с помощью TTUR (two-time-scale update rule) и других методов стабилизации.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8784" y="6959560"/>
            <a:ext cx="12738735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Conditional GAN позволяет управлять генерацией с помощью меток или текста, а projection-discriminator обеспечивает более стабильную сходимость.</a:t>
            </a:r>
            <a:endParaRPr lang="en-US" sz="16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732592"/>
            <a:ext cx="12764691" cy="129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Стабилизация и регуляризация состязательного обучения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2828" y="2333268"/>
            <a:ext cx="1276469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Успех GAN зависит не только от функционала, но и от ограничений на веса и норму градиента, гарантирующих Липшицевость дискриминатора и гладкость отображения генератора.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828" y="3226594"/>
            <a:ext cx="516374" cy="5163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828" y="3949422"/>
            <a:ext cx="2997518" cy="64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Спектральная нормализация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22828" y="4718804"/>
            <a:ext cx="2997518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Ограничивает операторную норму каждого слоя ≤1, деля веса на спектральный радиус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473" y="3226594"/>
            <a:ext cx="516374" cy="5163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78473" y="3949422"/>
            <a:ext cx="2997637" cy="64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Path-length регуляризация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978473" y="4718804"/>
            <a:ext cx="2997637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Выравнивает чувствительность координат латентного пространства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238" y="3226594"/>
            <a:ext cx="516374" cy="5163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34238" y="3949422"/>
            <a:ext cx="2997518" cy="64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Orthogonal регуляризация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234238" y="4718804"/>
            <a:ext cx="2997518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Штраф |WTW-I|F2 для ядер свёртки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883" y="3226594"/>
            <a:ext cx="516374" cy="51637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89883" y="3949422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R1-градиент-петля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0489883" y="4396026"/>
            <a:ext cx="2997637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Штраф γ/2·|∇IDψ(I)|2 с ленивым вычислением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722828" y="5942648"/>
            <a:ext cx="1276469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Lazy-regularization позволяет экономить вычислительные ресурсы, применяя регуляризацию раз в Nlazy=16 батчей с увеличенным коэффициентом.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22828" y="6835973"/>
            <a:ext cx="1276469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Consensus Optimization минимизирует |F|2+α·∇(θ,ψ)F·(F), сглаживая жёсткие циклические компоненты Якобиана, что повышает стабильность обучения без ухудшения качества генерации.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552" y="891302"/>
            <a:ext cx="12607171" cy="54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Таксономия модификаций GAN и их прикладные специализации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0552" y="1785223"/>
            <a:ext cx="12876967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 годы развития появилось множество вариаций GAN, каждая со своими особенностями и областями применения.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0552" y="2260521"/>
            <a:ext cx="12876967" cy="4323398"/>
          </a:xfrm>
          <a:prstGeom prst="roundRect">
            <a:avLst>
              <a:gd name="adj" fmla="val 169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8173" y="2268141"/>
            <a:ext cx="12861727" cy="5036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2718" y="2380417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Семейство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11930" y="2380417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Ключевая идея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7332" y="2380417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Типичная метрика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42734" y="2380417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Область применения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8173" y="2771775"/>
            <a:ext cx="12861727" cy="7827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2718" y="2884051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DCGAN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11930" y="2884051"/>
            <a:ext cx="2858929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only-conv, batch-norm, ReLU/LeakyReLU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27332" y="2884051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IS↑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442734" y="2884051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синтетика 64²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8173" y="3554492"/>
            <a:ext cx="12861727" cy="5036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92718" y="3666768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LAPGAN / StackGAN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11930" y="3666768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многоуровневый (pyramid) deconv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27332" y="3666768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FID↓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442734" y="3666768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1024² пейзажи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8173" y="4058126"/>
            <a:ext cx="12861727" cy="5036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92718" y="4170402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Pix2Pix (cGAN-L1)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11930" y="4170402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условие — изображение-source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27332" y="4170402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mIoU↑, SSIM↑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442734" y="4170402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картографирование, раскраска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8173" y="4561761"/>
            <a:ext cx="12861727" cy="5036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92718" y="4674037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CycleGAN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011930" y="4674037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цикл-консистентность без пары (x,y)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27332" y="4674037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FID↓, FSIM↑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442734" y="4674037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стилизация, domain-adapt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18173" y="5065395"/>
            <a:ext cx="12861727" cy="5036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92718" y="5177671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StarGAN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011930" y="5177671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multi-domain label 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27332" y="5177671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FID↓, user-study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442734" y="5177671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макияж, смена пола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18173" y="5569029"/>
            <a:ext cx="12861727" cy="5036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92718" y="5681305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BigGAN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011930" y="5681305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class-projection + SN + TTUR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227332" y="5681305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FID ≈ 9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442734" y="5681305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ImageNet-1k, high-res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18173" y="6072664"/>
            <a:ext cx="12861727" cy="5036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92718" y="6184940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StyleGAN 1-3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011930" y="6184940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latent‐style, mod-conv, alias-free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227332" y="6184940"/>
            <a:ext cx="285892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FID &lt; 3, PPL↓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442734" y="6184940"/>
            <a:ext cx="286273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лица, интерьер, NFT-арт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10552" y="6780133"/>
            <a:ext cx="12876967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Каждая модификация решает определенные проблемы и оптимизирована для конкретных задач. Например, StyleGAN специализируется на высококачественной генерации лиц, а CycleGAN позволяет переносить стиль без парных данных.</a:t>
            </a:r>
            <a:endParaRPr lang="en-US" sz="13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13" y="928687"/>
            <a:ext cx="12406074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Сшивка вероятностной и состязательной парадигм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2713" y="2030849"/>
            <a:ext cx="12734806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Реконструкция VAE страдает сглаживанием, а GAN не имеет явной лог-плотности. Гибридные подходы стремятся объединить достоинства обоих методов.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2713" y="3175754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VAE-GAN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2713" y="3726775"/>
            <a:ext cx="3894653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Объединяет ELBO и adversarial loss: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2713" y="4264223"/>
            <a:ext cx="3894653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𝓛 = 𝓛ELBO + λadv[log D(I) + log(1-D(Î))]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2713" y="4801672"/>
            <a:ext cx="3894653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Декодер одновременно подгоняет визуальную достоверность через дискриминатор и статистическую правдоподобность через BCE-потери.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79576" y="3175754"/>
            <a:ext cx="2974538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Adversarial Auto-Encoder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79576" y="3726775"/>
            <a:ext cx="3894653" cy="171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Заменяет регуляризатор KL на JS-дивергенцию, реализуемую вторым "дискриминатором-Q", который отличает истинное априорное pZ от латентного распределения энкодера.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06439" y="3175754"/>
            <a:ext cx="3080980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Wasserstein Auto-Encoder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6439" y="3726775"/>
            <a:ext cx="3894653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Использует Wasserstein вместо JS и вводит стохастическое "transport-cost". Архитектура остается как у VAE, но функции ошибки подобны GAN.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2713" y="6612969"/>
            <a:ext cx="12734806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Ценность гибридных подходов заключается в наличии нижней границы на log-likelihood, пригодной для кодирования/передачи, при уменьшении FID до уровня чистого GAN.</a:t>
            </a:r>
            <a:endParaRPr lang="en-US" sz="16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409" y="474583"/>
            <a:ext cx="12884110" cy="107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Гибридные методы стабилизации в условной генерации сверхвысокого разрешения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3409" y="1896904"/>
            <a:ext cx="12884110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разрешениях 4K×8K ни один дискриминатор не помещается в память. Для решения этой проблемы применяются специальные методы.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3409" y="2366605"/>
            <a:ext cx="2147292" cy="993219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90" y="2711648"/>
            <a:ext cx="242411" cy="303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3103" y="2539008"/>
            <a:ext cx="2791420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Пирамида дискриминаторов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923103" y="2911673"/>
            <a:ext cx="3383042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Многоуровневые Dk для разных масштабов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836902" y="3350300"/>
            <a:ext cx="10564416" cy="11430"/>
          </a:xfrm>
          <a:prstGeom prst="roundRect">
            <a:avLst>
              <a:gd name="adj" fmla="val 6335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03409" y="3446026"/>
            <a:ext cx="4294584" cy="993219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495" y="3791069"/>
            <a:ext cx="242411" cy="3030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0396" y="3618428"/>
            <a:ext cx="2155150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Progressive growing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070396" y="3991094"/>
            <a:ext cx="290964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Постепенное увеличение числа слоев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984194" y="4429720"/>
            <a:ext cx="8417123" cy="11430"/>
          </a:xfrm>
          <a:prstGeom prst="roundRect">
            <a:avLst>
              <a:gd name="adj" fmla="val 633550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03409" y="4525447"/>
            <a:ext cx="6441996" cy="993219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201" y="4870490"/>
            <a:ext cx="242411" cy="3030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17807" y="4697849"/>
            <a:ext cx="2155150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Patch-GAN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7217807" y="5070515"/>
            <a:ext cx="3218617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Дискриминатор работает с кропами 256²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03409" y="5712619"/>
            <a:ext cx="12884110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Пирамида дискриминаторов позволяет распределить обработку разных частотных компонентов: градиент по высокочастотной ошибке идет через D₀, по крупным цветовым блокам — через D₃.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03409" y="6458069"/>
            <a:ext cx="12884110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Progressive growing постепенно увеличивает число слоев генератора, что позволяет стабильно обучать модели высокого разрешения, такие как Nvidia SynthesEyes 8192² (〈1 s/it, 8 × V100).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03409" y="7203519"/>
            <a:ext cx="12884110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Patch-GAN использует дискриминатор, который свёртывается в решётку логитов N×N, нечувствительных к абсолютному положению патча, что позволяет работать с изображениями большого размера на бытовых GPU.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791" y="479941"/>
            <a:ext cx="9065657" cy="54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Диффузионные модели как альтернатива GAN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0791" y="1374338"/>
            <a:ext cx="128767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Диффузионные модели (DM) предлагают конструктивную вероятность, более стабильную в обучении, чем GAN.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352318" y="2513052"/>
            <a:ext cx="2181701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Прямой процесс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0791" y="2890361"/>
            <a:ext cx="39232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q(xt|xt-1) = 𝓝(√(1-βt)·xt-1, βtI)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5718" y="1849874"/>
            <a:ext cx="4506754" cy="450675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466" y="2649379"/>
            <a:ext cx="261104" cy="3263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4172" y="2513052"/>
            <a:ext cx="2181701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Обратный процесс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564172" y="2890361"/>
            <a:ext cx="392334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Сеть εθ аппроксимирует истинный шум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718" y="1849874"/>
            <a:ext cx="4506754" cy="450675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002" y="3032998"/>
            <a:ext cx="261104" cy="3263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64172" y="4757618"/>
            <a:ext cx="2181701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DDIM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9564172" y="5134928"/>
            <a:ext cx="392334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Детерминистическая версия для ускорения вывода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718" y="1849874"/>
            <a:ext cx="4506754" cy="4506754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5383" y="5230535"/>
            <a:ext cx="261104" cy="3263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352318" y="4897279"/>
            <a:ext cx="2181701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Guided Diffusion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610791" y="5274588"/>
            <a:ext cx="39232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Управление текстом, меткой, маской</a:t>
            </a:r>
            <a:endParaRPr lang="en-US" sz="13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5718" y="1849874"/>
            <a:ext cx="4506754" cy="4506754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7846" y="4846915"/>
            <a:ext cx="261104" cy="3263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10791" y="6552962"/>
            <a:ext cx="128767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Замкнутая формула прямого процесса: xt = √ᾱt·x0 + √(1-ᾱt)·ε, где ᾱt = ∏s≤t(1-βs).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610791" y="7028498"/>
            <a:ext cx="1287672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Обученная сеть εθ позволяет строить сэмплер, обращающий шум в изображение. Квадратная ошибка по ε эквивалентна оптимизации вариационной нижней границы log pθ.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610791" y="7783235"/>
            <a:ext cx="1287672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 сравнению с GAN, диффузионные модели выигрывают стабильностью и легкостью условной генерации, но проигрывают в скорости и остроте текстур при низком ресурсе.</a:t>
            </a:r>
            <a:endParaRPr lang="en-US" sz="13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9686" y="450413"/>
            <a:ext cx="7427833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Энергетические модели и score-matching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59686" y="1719977"/>
            <a:ext cx="7427833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Score-based модели находят векторное поле sθ(x) ≈ ∇xlog pdata(x), после чего интегрируют стохастическое дифференциальное уравнение (SDE) "reverse-time".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059686" y="2428280"/>
            <a:ext cx="368498" cy="368498"/>
          </a:xfrm>
          <a:prstGeom prst="roundRect">
            <a:avLst>
              <a:gd name="adj" fmla="val 1867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063" y="2458938"/>
            <a:ext cx="245626" cy="3070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91895" y="2484477"/>
            <a:ext cx="2901791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Denoising score matching (DSM)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591895" y="2838688"/>
            <a:ext cx="6895624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обучения, основанный на удалении шума из данных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059686" y="3428286"/>
            <a:ext cx="368498" cy="368498"/>
          </a:xfrm>
          <a:prstGeom prst="roundRect">
            <a:avLst>
              <a:gd name="adj" fmla="val 1867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063" y="3458944"/>
            <a:ext cx="245626" cy="3070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91895" y="3484483"/>
            <a:ext cx="204775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Sliced-score matching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591895" y="3838694"/>
            <a:ext cx="6895624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Эффективный метод оценки градиента логарифмической плотности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059686" y="4428292"/>
            <a:ext cx="368498" cy="368498"/>
          </a:xfrm>
          <a:prstGeom prst="roundRect">
            <a:avLst>
              <a:gd name="adj" fmla="val 1867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63" y="4458950"/>
            <a:ext cx="245626" cy="3070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91895" y="4484489"/>
            <a:ext cx="204775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NCSN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591895" y="4838700"/>
            <a:ext cx="6895624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Обучает несколько срезов сигма-шкалы для более точного моделирования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059686" y="5428298"/>
            <a:ext cx="368498" cy="368498"/>
          </a:xfrm>
          <a:prstGeom prst="roundRect">
            <a:avLst>
              <a:gd name="adj" fmla="val 1867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063" y="5458956"/>
            <a:ext cx="245626" cy="3070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91895" y="5484495"/>
            <a:ext cx="2047756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GLSM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591895" y="5838706"/>
            <a:ext cx="6895624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Использует единое представление для всех уровней шума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059686" y="6284952"/>
            <a:ext cx="7427833" cy="78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Результирующий генератор похож на диффузионную модель, но функция потерь напрямую использует среднеквадратичную ошибку с градиентом плотности, что обеспечивает более прямую оптимизацию.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6059686" y="7255312"/>
            <a:ext cx="7427833" cy="52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Энергетические модели предлагают альтернативный взгляд на генерацию, фокусируясь на градиенте логарифмической плотности вместо явного моделирования распределения.</a:t>
            </a:r>
            <a:endParaRPr lang="en-US" sz="12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86" y="429578"/>
            <a:ext cx="6451402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Прикладные кейсы генеративных моделей в CV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3386" y="1049536"/>
            <a:ext cx="13064133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Генеративные модели находят широкое применение в различных задачах компьютерного зрения.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86" y="1379101"/>
            <a:ext cx="3024307" cy="1869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98902" y="1379101"/>
            <a:ext cx="1736527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In-painting и реставрация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598902" y="1640562"/>
            <a:ext cx="9888617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Diffusion-in-painting Stable-Diffusion-Inpaint принимает маску и заполняет отсутствующие части изображения без видимых швов, восстанавливая поврежденные фотографии.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86" y="3490198"/>
            <a:ext cx="3024307" cy="1869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8902" y="3490198"/>
            <a:ext cx="15120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Супер-разрешение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598902" y="3751659"/>
            <a:ext cx="9888617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ESRGAN и SR3 увеличивают разрешение изображений в 4 раза с высоким качеством (FID 8), восстанавливая детали, которые были потеряны в низком разрешении.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86" y="5601295"/>
            <a:ext cx="3024307" cy="1869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98902" y="5601295"/>
            <a:ext cx="15120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3-D соединие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598902" y="5862757"/>
            <a:ext cx="9888617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DreamFusion генерирует neural-radiance-field на основе текстового описания, позволяя создавать и печатать трехмерные объекты по текстовому запросу.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23386" y="7606546"/>
            <a:ext cx="13064133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Другие применения включают синтез данных для обучения (StyleGAN-Augment для анти-спуфинга, Data-GAN для дефектных паек микрочипов) и решение обратных задач физики (Phy-Diff для реконструкции CT из 10% проекций).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884873"/>
            <a:ext cx="12163425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Расширенная библиотека трюков стабилизации GAN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7471" y="1935361"/>
            <a:ext cx="12770048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 последние годы в арсенал инженеров вошли десятки микромодификаций, каждая из которых уменьшает вероятность коллапса хотя бы на несколько процентов итераций.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7471" y="2822019"/>
            <a:ext cx="461248" cy="461248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2860477"/>
            <a:ext cx="307419" cy="3843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3625" y="2892385"/>
            <a:ext cx="2703195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Relativistic discriminator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83625" y="3335655"/>
            <a:ext cx="5590818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Оценивает, "насколько реальнее" один образец другого, смещая сигнал с абсолютного логита к разностному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30666" y="2822019"/>
            <a:ext cx="461248" cy="461248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580" y="2860477"/>
            <a:ext cx="307419" cy="3843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96820" y="2892385"/>
            <a:ext cx="2628186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Skip-init и equalized-LR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896820" y="3335655"/>
            <a:ext cx="5590818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Масштабирующий коэффициент √(2/n) переносится в динамический runtime-scale, делая распределение активаций стационарным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17471" y="4729639"/>
            <a:ext cx="461248" cy="461248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" y="4768096"/>
            <a:ext cx="307419" cy="3843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3625" y="4800005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Label-smoothing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383625" y="5243274"/>
            <a:ext cx="5590818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Реальные метки переводят из 1 в диапазон [0.9,1.0], фейковые оставляют 0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230666" y="4729639"/>
            <a:ext cx="461248" cy="461248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580" y="4768096"/>
            <a:ext cx="307419" cy="3843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96820" y="4800005"/>
            <a:ext cx="3020258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Dropout-D и noise injection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896820" y="5243274"/>
            <a:ext cx="5590818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ранние эпохи к входу I в D добавляют гауссов шум σ = 0.1, который убывает экспоненциально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17471" y="6129933"/>
            <a:ext cx="12770048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Deep-boosting запускает ансамбль дискриминаторов D(1)…D(k), обновляя их поочередно. Текущий генератор соревнуется со "слабым" дискриминатором, тогда как остальные держат память прошлых ошибок, что гасит кратковременную перегонку.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17471" y="7016591"/>
            <a:ext cx="1277004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 техники в совокупности значительно повышают стабильность обучения GAN и качество генерируемых изображений.</a:t>
            </a:r>
            <a:endParaRPr lang="en-US" sz="1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395" y="535424"/>
            <a:ext cx="12806124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Метрики оценки: точность/разнообразие, покрытие/плотность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1395" y="2141577"/>
            <a:ext cx="12806124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FID усредняет оба аспекта качества генерации, но Precision-Recall раскрывает их раздельно, используя k-NN вектора Inception размерности 2048: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1395" y="2983468"/>
            <a:ext cx="12806124" cy="914876"/>
          </a:xfrm>
          <a:prstGeom prst="roundRect">
            <a:avLst>
              <a:gd name="adj" fmla="val 8939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71751" y="2983468"/>
            <a:ext cx="12825413" cy="914876"/>
          </a:xfrm>
          <a:prstGeom prst="roundRect">
            <a:avLst>
              <a:gd name="adj" fmla="val 3192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866418" y="3129439"/>
            <a:ext cx="12436078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|{Î: ∃I s.t. d(Î,I)&lt;τ}| / #gen</a:t>
            </a:r>
            <a:endParaRPr lang="en-US" sz="15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|{I: ∃Î d(Î,I)&lt;τ}| / #real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395" y="4311968"/>
            <a:ext cx="2433876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Precision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1395" y="4810839"/>
            <a:ext cx="3951446" cy="1868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Измеряет долю сгенерированных изображений, которые похожи на реальные. Высокая precision при низком recall указывает на mode-collapse, когда модель генерирует только небольшое подмножество возможных изображений.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15520" y="4311968"/>
            <a:ext cx="2433876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Recall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115520" y="4810839"/>
            <a:ext cx="3951446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Измеряет долю реальных изображений, которые имеют похожие сгенерированные аналоги. Низкий recall означает, что модель не покрывает все разнообразие реальных данных.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49646" y="4311968"/>
            <a:ext cx="2433876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CLIP-Score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549646" y="4810839"/>
            <a:ext cx="3951446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S(I,t) = cos(ECLIP(I), ECLIP(t)) измеряет семантическую "верность" текстовому запросу. Для проверки токсичного контента используют CLIP-filter с негативной коллекцией.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395" y="7073741"/>
            <a:ext cx="12806124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 метрики позволяют более детально оценивать качество генеративных моделей и выявлять их специфические недостатки, такие как mode-collapse или недостаточное разнообразие.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81395"/>
            <a:ext cx="12140446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Семантическое редактирование и инверсия латента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2233" y="1738908"/>
            <a:ext cx="12765286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изменения существующего изображения I* необходимо решить задачу latent inversion: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233" y="2301002"/>
            <a:ext cx="12765286" cy="639366"/>
          </a:xfrm>
          <a:prstGeom prst="roundRect">
            <a:avLst>
              <a:gd name="adj" fmla="val 13556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711994" y="2301002"/>
            <a:ext cx="12785765" cy="639366"/>
          </a:xfrm>
          <a:prstGeom prst="roundRect">
            <a:avLst>
              <a:gd name="adj" fmla="val 4842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918329" y="2455664"/>
            <a:ext cx="12373094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z* = arg min_z |I* - G(z)|²₂ + λ|φ(I*) - φ(G(z))|₂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233" y="3172420"/>
            <a:ext cx="12765286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где φ — перцептивные фичи VGG.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233" y="4353520"/>
            <a:ext cx="4048720" cy="206335"/>
          </a:xfrm>
          <a:prstGeom prst="roundRect">
            <a:avLst>
              <a:gd name="adj" fmla="val 4200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233" y="4869299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Быстрый метод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2233" y="5315426"/>
            <a:ext cx="4048720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e4e-encoder напрямую отображает изображение в латентное пространство, обеспечивая быстрое, но менее точное преобразование.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397" y="4043958"/>
            <a:ext cx="4048839" cy="206335"/>
          </a:xfrm>
          <a:prstGeom prst="roundRect">
            <a:avLst>
              <a:gd name="adj" fmla="val 4200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0397" y="4559737"/>
            <a:ext cx="257948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Точный метод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80397" y="5005864"/>
            <a:ext cx="4048839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PTI (pseudo-task-inversion) использует два шага Adam (300 итераций) для персонализации весов Gθ→θ', что обеспечивает более точную реконструкцию.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438680" y="3734514"/>
            <a:ext cx="4048839" cy="206335"/>
          </a:xfrm>
          <a:prstGeom prst="roundRect">
            <a:avLst>
              <a:gd name="adj" fmla="val 4200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8680" y="4250293"/>
            <a:ext cx="376035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Семантическое редактирование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38680" y="4696420"/>
            <a:ext cx="4048839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После инверсии в субпространстве мягкого признака (например, nsmile) добавляют α·n, что позволяет управляемо изменять атрибуты изображения.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233" y="6888123"/>
            <a:ext cx="12765286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 методы позволяют редактировать существующие изображения, сохраняя их основные характеристики, но изменяя определенные атрибуты, такие как улыбка, возраст или освещение.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527" y="470892"/>
            <a:ext cx="11435834" cy="53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3-D-консистентность, NeRF-GAN и генерация мульти-видов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8527" y="1347311"/>
            <a:ext cx="12888992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методы позволяют создавать трехмерно-консистентные модели из двумерных изображений или текстовых описаний.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147" y="1925360"/>
            <a:ext cx="4200049" cy="205239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999" y="1925360"/>
            <a:ext cx="4200049" cy="205239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850" y="1925360"/>
            <a:ext cx="4200049" cy="205239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47" y="4114562"/>
            <a:ext cx="12873752" cy="2052399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98527" y="6471285"/>
            <a:ext cx="12888992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DreamFusion обучает text-to-image диффузионную модель, но каждый шаг запускает 3-D volume-renderer NeRF. Изображение, отрендеренное из случайного ракурса, проходит CLIP-guidance, а градиент обновляет плотность σ и цвет c.</a:t>
            </a:r>
            <a:endParaRPr lang="en-US" sz="1300" dirty="0"/>
          </a:p>
        </p:txBody>
      </p:sp>
      <p:sp>
        <p:nvSpPr>
          <p:cNvPr id="9" name="Text 3"/>
          <p:cNvSpPr/>
          <p:nvPr/>
        </p:nvSpPr>
        <p:spPr>
          <a:xfrm>
            <a:off x="598527" y="7211139"/>
            <a:ext cx="12888992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После 50 тысяч итераций появляется рельефная mesh-модель, совместимая с 3-D-печатью. Eg3D переносит StyleGAN-выход в три координаты через tri-plane-features и минутный renderer, что позволяет вращать портреты без артефактов фона.</a:t>
            </a:r>
            <a:endParaRPr lang="en-US" sz="1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534" y="513398"/>
            <a:ext cx="12833985" cy="116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Adversarial Diffusion Models и объединение оптимизационных парадигм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3534" y="2053828"/>
            <a:ext cx="12833985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Диффузионные модели обучаются с помощью MSE-шума, а GAN — через игру между сетями. ADM-GAN предлагает гибридный подход, объединяющий достоинства обоих методов.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161580" y="3338870"/>
            <a:ext cx="2382917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Диффузионная основа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3534" y="3742492"/>
            <a:ext cx="3890962" cy="89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Базовая модель обучается стандартным MSE-шумом, обеспечивая стабильность и хорошее покрытие распределения данных.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4532" y="2861072"/>
            <a:ext cx="4491871" cy="44918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19061" y="3820597"/>
            <a:ext cx="2793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596438" y="3338870"/>
            <a:ext cx="2333982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Дискриминатор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96438" y="3742492"/>
            <a:ext cx="3891082" cy="89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Дополнительный дискриминатор действует только на последние 10 шагов диффузии, когда шум почти рассеян.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532" y="2861072"/>
            <a:ext cx="4491871" cy="44918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2434" y="3820597"/>
            <a:ext cx="2793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9596438" y="6023491"/>
            <a:ext cx="3637240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Комбинированная функция потерь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596438" y="6427113"/>
            <a:ext cx="3891082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𝓛 = 𝓛MSE + η·𝓛GAN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532" y="2861072"/>
            <a:ext cx="4491871" cy="44918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2434" y="6043970"/>
            <a:ext cx="2793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2210514" y="5874187"/>
            <a:ext cx="2333982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Улучшение деталей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3534" y="6277808"/>
            <a:ext cx="3890962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GAN-компонент добавляет высокочастотный акцент, который MSE склонен усреднять.</a:t>
            </a:r>
            <a:endParaRPr lang="en-US" sz="14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532" y="2861072"/>
            <a:ext cx="4491871" cy="449187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19061" y="6043970"/>
            <a:ext cx="2793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150" dirty="0"/>
          </a:p>
        </p:txBody>
      </p:sp>
      <p:sp>
        <p:nvSpPr>
          <p:cNvPr id="20" name="Text 14"/>
          <p:cNvSpPr/>
          <p:nvPr/>
        </p:nvSpPr>
        <p:spPr>
          <a:xfrm>
            <a:off x="653534" y="7562969"/>
            <a:ext cx="12833985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Этот гибридный подход позволяет снизить FID на 0.7 пункта при неизменном Inception Score, сочетая стабильность диффузионных моделей с детализацией GAN.</a:t>
            </a:r>
            <a:endParaRPr lang="en-US" sz="14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867" y="512802"/>
            <a:ext cx="7840266" cy="1163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Безопасность и противодействие DeepFake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51867" y="1956078"/>
            <a:ext cx="7840266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 развитием генеративных моделей растет необходимость в методах обеспечения безопасности и противодействия злоупотреблениям.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51867" y="2761298"/>
            <a:ext cx="3827026" cy="227992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701" y="2955131"/>
            <a:ext cx="232826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EU AI Act (2025)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5701" y="3357920"/>
            <a:ext cx="3439358" cy="148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Требует внедрения водяного знака: модель должна встраивать стеганографический сигнал s(I), обнаружимый алгоритмом с SDR &gt; 20 dB.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65107" y="2761298"/>
            <a:ext cx="3827026" cy="227992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8941" y="2955131"/>
            <a:ext cx="232826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StyleWatermark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58941" y="3357920"/>
            <a:ext cx="3439358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Использует легкий watermark-decoder и добавляет штраф (s(G(z))-w)², создавая незаметный для глаза, но машинно-распознаваемый водяной знак.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1867" y="5227439"/>
            <a:ext cx="7840266" cy="1386245"/>
          </a:xfrm>
          <a:prstGeom prst="roundRect">
            <a:avLst>
              <a:gd name="adj" fmla="val 564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701" y="5421273"/>
            <a:ext cx="232826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Face-dataset-license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45701" y="5824061"/>
            <a:ext cx="7452598" cy="5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CreativeML требует уведомления субъекта при генерации его изображения, что обеспечивает этичное использование персональных данных.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1867" y="6823115"/>
            <a:ext cx="7840266" cy="89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 меры направлены на обеспечение прозрачности и ответственности при использовании генеративных моделей, позволяя отличать реальные изображения от сгенерированных и защищая права субъектов данных.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05790"/>
            <a:ext cx="12716470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Этичные и социальные последствия генеративных систем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1049" y="2423160"/>
            <a:ext cx="1271647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Генеративные модели могут усиливать существующие предубеждения и создавать новые этические проблемы.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1049" y="3243620"/>
            <a:ext cx="3189684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Усиление предубеждений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71049" y="3808095"/>
            <a:ext cx="6089452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Если 80% фотографий CEO — мужчины, запрос "CEO portrait" будет преимущественно генерировать мужские лица. Метрика Classifier-Free Fairness измеряет ΔKL между p(gender | prompt) и демографическим prior.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1049" y="5416034"/>
            <a:ext cx="608945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Уменьшение ΔKL &lt; 0.05 достигается балансировкой prompt-embedding: (1-λ)·eprompt + λ·eunder-rep.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05568" y="3243620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Угроза приватности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405568" y="3808095"/>
            <a:ext cx="6089452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Membership inference позволяет определить, входило ли фото в обучающую выборку. Для диффузионных моделей риск ниже, но GAN с малым batch-size могут запоминать текстуры.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05568" y="5416034"/>
            <a:ext cx="6089452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Differential-Privacy-GAN добавляет гауссов шум к обновлению θ, обеспечивая (ε,δ)-DP, но качество падает (FID +4.5).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1049" y="6919317"/>
            <a:ext cx="1271647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Решение этих проблем требует комплексного подхода, включающего технические меры (балансировка данных, дифференциальная приватность) и нормативные ограничения (этические кодексы, законодательство).</a:t>
            </a:r>
            <a:endParaRPr lang="en-US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9936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Кодовый пример: минимальный WGAN-GP на PyTorch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0906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Рассмотрим минимальную реализацию WGAN-GP для генерации изображений CIFAR-10 размером 32×32.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201936"/>
            <a:ext cx="13090684" cy="14141768"/>
          </a:xfrm>
          <a:prstGeom prst="roundRect">
            <a:avLst>
              <a:gd name="adj" fmla="val 36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391239" y="1201936"/>
            <a:ext cx="13101876" cy="14141768"/>
          </a:xfrm>
          <a:prstGeom prst="roundRect">
            <a:avLst>
              <a:gd name="adj" fmla="val 130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504587" y="1286947"/>
            <a:ext cx="12875181" cy="13971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torch.nn as nn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torch.utils.data import DataLoader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 import datasets, transforms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BATCH = 128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LATENT = 128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critic_iters = 5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LAMBDA_GP = 10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 = DataLoader(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datasets.CIFAR10('.', download=True, transform=transforms.Compose([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transforms.Resize(32),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transforms.ToTensor(),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transforms.Normalize((.5,.5,.5), (.5,.5,.5))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])),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batch_size=BATCH, shuffle=True)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G(nn.Module):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self.net = nn.Sequential(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nn.Linear(LATENT, 512*4*4),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nn.Unflatten(1, (512,4,4)),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nn.ConvTranspose2d(512,256,4,2,1),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nn.ReLU(True),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nn.ConvTranspose2d(256,128,4,2,1),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nn.ReLU(True),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nn.ConvTranspose2d(128, 3,4,2,1),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nn.Tanh())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forward(self,z):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self.net(z)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D(nn.Module):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 blk(i,o):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nn.Sequential(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nn.Conv2d(i,o,4,2,1),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nn.InstanceNorm2d(o,affine=True),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nn.LeakyReLU(.2,True))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self.net = nn.Sequential(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blk(3,128),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blk(128,256),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blk(256,512),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nn.Flatten(),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nn.Linear(512*4*4,1))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forward(self,x):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self.net(x)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G, D = G().cuda(), D().cuda()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opt_G = torch.optim.Adam(G.parameters(), 1e-4, (0, .9))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opt_D = torch.optim.Adam(D.parameters(), 1e-4, (0, .9))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grad_penalty(real, fake):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ε = torch.rand(real.size(0),1,1,1, device=real.device)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hat = real*ε + fake*(1-ε); hat.requires_grad_()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d_hat = D(hat)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 = torch.autograd.grad(d_hat.sum(), hat, create_graph=True)[0]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((grad.view(len(real),-1).norm(2,dim=1)-1)**2).mean()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range(200):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i,(x,_) in enumerate(train):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x=x.cuda(); b=x.size(0)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--- train critic ---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_ in range(critic_iters):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z = torch.randn(b,LATENT, device=x.device)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fake = G(z).detach()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loss_D = D(fake).mean() - D(x).mean() + LAMBDA_GP*grad_penalty(x,fake)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opt_D.zero_grad(); loss_D.backward(); opt_D.step()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--- train gen ---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 = torch.randn(b,LATENT, device=x.device)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loss_G = -D(G(z)).mean()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opt_G.zero_grad(); loss_G.backward(); opt_G.step()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print(f"epoch {epoch:03d} D {loss_D:.2f} G {loss_G:.2f}")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6835" y="15471219"/>
            <a:ext cx="130906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Запуск на RTX-3060 выдаёт FID ≈ 31 спустя 40 эпох. Добавив DiffAugment, спектральную норму и TTUR, можно снизить FID до значений &lt; 23.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788" y="549831"/>
            <a:ext cx="7962424" cy="158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Генерация аудио-видео и кросс-модальные диффузионные трансформеры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90788" y="2385655"/>
            <a:ext cx="7962424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Генерация видео и аудио представляет особые сложности из-за высокой размерности данных и необходимости сохранения временной когерентности.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80693" y="3115628"/>
            <a:ext cx="22860" cy="3564017"/>
          </a:xfrm>
          <a:prstGeom prst="roundRect">
            <a:avLst>
              <a:gd name="adj" fmla="val 31018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947737" y="3294102"/>
            <a:ext cx="506373" cy="22860"/>
          </a:xfrm>
          <a:prstGeom prst="roundRect">
            <a:avLst>
              <a:gd name="adj" fmla="val 310180"/>
            </a:avLst>
          </a:prstGeom>
          <a:solidFill>
            <a:srgbClr val="E5E5E5"/>
          </a:solidFill>
          <a:ln/>
        </p:spPr>
      </p:sp>
      <p:sp>
        <p:nvSpPr>
          <p:cNvPr id="7" name="Shape 4"/>
          <p:cNvSpPr/>
          <p:nvPr/>
        </p:nvSpPr>
        <p:spPr>
          <a:xfrm>
            <a:off x="590788" y="3115628"/>
            <a:ext cx="379809" cy="379809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4129" y="3147298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624846" y="3173611"/>
            <a:ext cx="211026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памяти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24846" y="3538538"/>
            <a:ext cx="6928366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Модели Video-DM строят SDE над (H,W,T)-тензором, но память растет как O(HWT), что делает прямое применение диффузионных моделей затруднительным.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47737" y="4594622"/>
            <a:ext cx="506373" cy="22860"/>
          </a:xfrm>
          <a:prstGeom prst="roundRect">
            <a:avLst>
              <a:gd name="adj" fmla="val 310180"/>
            </a:avLst>
          </a:prstGeom>
          <a:solidFill>
            <a:srgbClr val="E5E5E5"/>
          </a:solidFill>
          <a:ln/>
        </p:spPr>
      </p:sp>
      <p:sp>
        <p:nvSpPr>
          <p:cNvPr id="12" name="Shape 9"/>
          <p:cNvSpPr/>
          <p:nvPr/>
        </p:nvSpPr>
        <p:spPr>
          <a:xfrm>
            <a:off x="590788" y="4416147"/>
            <a:ext cx="379809" cy="379809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4129" y="4447818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624846" y="4474131"/>
            <a:ext cx="211026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Factorized U-Vit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24846" y="4839057"/>
            <a:ext cx="6928366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Решение — разделение временных attention слоев от пространственных, что значительно снижает вычислительные требования.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47737" y="5895142"/>
            <a:ext cx="506373" cy="22860"/>
          </a:xfrm>
          <a:prstGeom prst="roundRect">
            <a:avLst>
              <a:gd name="adj" fmla="val 310180"/>
            </a:avLst>
          </a:prstGeom>
          <a:solidFill>
            <a:srgbClr val="E5E5E5"/>
          </a:solidFill>
          <a:ln/>
        </p:spPr>
      </p:sp>
      <p:sp>
        <p:nvSpPr>
          <p:cNvPr id="17" name="Shape 14"/>
          <p:cNvSpPr/>
          <p:nvPr/>
        </p:nvSpPr>
        <p:spPr>
          <a:xfrm>
            <a:off x="590788" y="5716667"/>
            <a:ext cx="379809" cy="379809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4129" y="5748338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624846" y="5774650"/>
            <a:ext cx="211026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Кросс-модальность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24846" y="6139577"/>
            <a:ext cx="6928366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Вызывать output-condition "audio spectrogram" можно через cross-attention, что позволяет синхронизировать видео с аудио.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0788" y="6869549"/>
            <a:ext cx="7962424" cy="81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Результатом являются 4-секундные клипы размером 768×432, которые складно совпадают с тактом музыки, как в Music-LM-v2. Эти модели открывают новые возможности для создания мультимедийного контента, синхронизированного по нескольким модальностям.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969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3176" y="2837259"/>
            <a:ext cx="11471196" cy="57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Роль генеративных моделей в обучении представлений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3176" y="3687128"/>
            <a:ext cx="13344049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Генеративные модели играют важную роль в self-supervised learning, позволяя извлекать полезные представления без явной разметки данных.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3176" y="4279463"/>
            <a:ext cx="4264223" cy="60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50"/>
              </a:lnSpc>
              <a:buNone/>
            </a:pPr>
            <a:r>
              <a:rPr lang="en-US" sz="4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78%</a:t>
            </a:r>
            <a:endParaRPr lang="en-US" sz="4750" dirty="0"/>
          </a:p>
        </p:txBody>
      </p:sp>
      <p:sp>
        <p:nvSpPr>
          <p:cNvPr id="6" name="Text 3"/>
          <p:cNvSpPr/>
          <p:nvPr/>
        </p:nvSpPr>
        <p:spPr>
          <a:xfrm>
            <a:off x="1626751" y="5115401"/>
            <a:ext cx="22969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Top-1 Accuracy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3176" y="5512713"/>
            <a:ext cx="4264223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GAN-Discriminator после дообучения linear-probe на ImageNet без этикеток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83029" y="4279463"/>
            <a:ext cx="4264223" cy="60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50"/>
              </a:lnSpc>
              <a:buNone/>
            </a:pPr>
            <a:r>
              <a:rPr lang="en-US" sz="4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85%</a:t>
            </a:r>
            <a:endParaRPr lang="en-US" sz="4750" dirty="0"/>
          </a:p>
        </p:txBody>
      </p:sp>
      <p:sp>
        <p:nvSpPr>
          <p:cNvPr id="9" name="Text 6"/>
          <p:cNvSpPr/>
          <p:nvPr/>
        </p:nvSpPr>
        <p:spPr>
          <a:xfrm>
            <a:off x="6166604" y="5115401"/>
            <a:ext cx="22969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Сегментация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183029" y="5512713"/>
            <a:ext cx="4264223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MAE-encoder, обученный реконструировать пропущенные патчи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722882" y="4279463"/>
            <a:ext cx="4264343" cy="606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50"/>
              </a:lnSpc>
              <a:buNone/>
            </a:pPr>
            <a:r>
              <a:rPr lang="en-US" sz="4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90%</a:t>
            </a:r>
            <a:endParaRPr lang="en-US" sz="4750" dirty="0"/>
          </a:p>
        </p:txBody>
      </p:sp>
      <p:sp>
        <p:nvSpPr>
          <p:cNvPr id="12" name="Text 9"/>
          <p:cNvSpPr/>
          <p:nvPr/>
        </p:nvSpPr>
        <p:spPr>
          <a:xfrm>
            <a:off x="10706576" y="5115401"/>
            <a:ext cx="2296954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Трансфер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722882" y="5512713"/>
            <a:ext cx="4264343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Эффективность переноса на downstream-задачи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3176" y="6307098"/>
            <a:ext cx="13344049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Соревнование "реал vs фейк" в GAN заставляет дискриминатор выучить визуальную статистику, сравнимую с контрастивными методами обучения, такими как SimCLR. Это демонстрирует, что генеративные задачи могут служить мощным инструментом для извлечения семантически значимых признаков.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3176" y="7101483"/>
            <a:ext cx="13344049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MAE-encoder, обученный реконструировать пропущенные патчи, служит инвариантным backbone для задач сегментации, показывая, что восстановление изображений является эффективным способом изучения визуальных представлений.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2025-05-30T15:41:26Z</dcterms:created>
  <dcterms:modified xsi:type="dcterms:W3CDTF">2025-05-30T15:41:26Z</dcterms:modified>
</cp:coreProperties>
</file>